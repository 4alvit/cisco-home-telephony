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57564d6ba8440c" /><Relationship Type="http://schemas.openxmlformats.org/officeDocument/2006/relationships/extended-properties" Target="/docProps/app.xml" Id="Rdc6d620f481d4f45" /><Relationship Type="http://schemas.openxmlformats.org/officeDocument/2006/relationships/officeDocument" Target="/ppt/presentation.xml" Id="Rd19d7edec3ac43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f07c020db249cb"/>
  </p:sldMasterIdLst>
  <p:notesMasterIdLst>
    <p:notesMasterId xmlns:r="http://schemas.openxmlformats.org/officeDocument/2006/relationships" r:id="Rf8c3627646884fc9"/>
  </p:notesMasterIdLst>
  <p:sldIdLst>
    <p:sldId xmlns:r="http://schemas.openxmlformats.org/officeDocument/2006/relationships" id="256" r:id="Rfc2e1e8f235d4bef"/>
    <p:sldId xmlns:r="http://schemas.openxmlformats.org/officeDocument/2006/relationships" id="257" r:id="R28ed7e66f6e6497e"/>
    <p:sldId xmlns:r="http://schemas.openxmlformats.org/officeDocument/2006/relationships" id="258" r:id="Re476cb9063e04473"/>
    <p:sldId xmlns:r="http://schemas.openxmlformats.org/officeDocument/2006/relationships" id="259" r:id="R10bc742c721b420e"/>
    <p:sldId xmlns:r="http://schemas.openxmlformats.org/officeDocument/2006/relationships" id="260" r:id="Raaa0b83498534c57"/>
    <p:sldId xmlns:r="http://schemas.openxmlformats.org/officeDocument/2006/relationships" id="261" r:id="R2d7ab22be1fe48da"/>
    <p:sldId xmlns:r="http://schemas.openxmlformats.org/officeDocument/2006/relationships" id="262" r:id="R552e56dc87784a3c"/>
    <p:sldId xmlns:r="http://schemas.openxmlformats.org/officeDocument/2006/relationships" id="263" r:id="R007542d280f94dcb"/>
    <p:sldId xmlns:r="http://schemas.openxmlformats.org/officeDocument/2006/relationships" id="264" r:id="R46672d2cfcc14238"/>
    <p:sldId xmlns:r="http://schemas.openxmlformats.org/officeDocument/2006/relationships" id="265" r:id="R58a0b17cf5164771"/>
    <p:sldId xmlns:r="http://schemas.openxmlformats.org/officeDocument/2006/relationships" id="266" r:id="R46146d95095d4ed3"/>
    <p:sldId xmlns:r="http://schemas.openxmlformats.org/officeDocument/2006/relationships" id="267" r:id="Rbc5897bb481e455e"/>
    <p:sldId xmlns:r="http://schemas.openxmlformats.org/officeDocument/2006/relationships" id="268" r:id="Rfdb524d2d18d4daa"/>
    <p:sldId xmlns:r="http://schemas.openxmlformats.org/officeDocument/2006/relationships" id="269" r:id="R6588ffd320ef409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7480b82515f40c1" /><Relationship Type="http://schemas.openxmlformats.org/officeDocument/2006/relationships/slideMaster" Target="/ppt/slideMasters/slideMaster1.xml" Id="R17f07c020db249cb" /><Relationship Type="http://schemas.openxmlformats.org/officeDocument/2006/relationships/notesMaster" Target="/ppt/notesMasters/notesMaster1.xml" Id="Rf8c3627646884fc9" /><Relationship Type="http://schemas.openxmlformats.org/officeDocument/2006/relationships/presProps" Target="/ppt/presProps.xml" Id="R78e4def5753747d2" /><Relationship Type="http://schemas.openxmlformats.org/officeDocument/2006/relationships/tableStyles" Target="/ppt/tableStyles.xml" Id="Re8efc58f8e8e43a9" /><Relationship Type="http://schemas.openxmlformats.org/officeDocument/2006/relationships/slide" Target="/ppt/slides/slide1.xml" Id="Rfc2e1e8f235d4bef" /><Relationship Type="http://schemas.openxmlformats.org/officeDocument/2006/relationships/slide" Target="/ppt/slides/slide2.xml" Id="R28ed7e66f6e6497e" /><Relationship Type="http://schemas.openxmlformats.org/officeDocument/2006/relationships/slide" Target="/ppt/slides/slide3.xml" Id="Re476cb9063e04473" /><Relationship Type="http://schemas.openxmlformats.org/officeDocument/2006/relationships/slide" Target="/ppt/slides/slide4.xml" Id="R10bc742c721b420e" /><Relationship Type="http://schemas.openxmlformats.org/officeDocument/2006/relationships/slide" Target="/ppt/slides/slide5.xml" Id="Raaa0b83498534c57" /><Relationship Type="http://schemas.openxmlformats.org/officeDocument/2006/relationships/slide" Target="/ppt/slides/slide6.xml" Id="R2d7ab22be1fe48da" /><Relationship Type="http://schemas.openxmlformats.org/officeDocument/2006/relationships/slide" Target="/ppt/slides/slide7.xml" Id="R552e56dc87784a3c" /><Relationship Type="http://schemas.openxmlformats.org/officeDocument/2006/relationships/slide" Target="/ppt/slides/slide8.xml" Id="R007542d280f94dcb" /><Relationship Type="http://schemas.openxmlformats.org/officeDocument/2006/relationships/slide" Target="/ppt/slides/slide9.xml" Id="R46672d2cfcc14238" /><Relationship Type="http://schemas.openxmlformats.org/officeDocument/2006/relationships/slide" Target="/ppt/slides/slide10.xml" Id="R58a0b17cf5164771" /><Relationship Type="http://schemas.openxmlformats.org/officeDocument/2006/relationships/slide" Target="/ppt/slides/slide11.xml" Id="R46146d95095d4ed3" /><Relationship Type="http://schemas.openxmlformats.org/officeDocument/2006/relationships/slide" Target="/ppt/slides/slide12.xml" Id="Rbc5897bb481e455e" /><Relationship Type="http://schemas.openxmlformats.org/officeDocument/2006/relationships/slide" Target="/ppt/slides/slide13.xml" Id="Rfdb524d2d18d4daa" /><Relationship Type="http://schemas.openxmlformats.org/officeDocument/2006/relationships/slide" Target="/ppt/slides/slide14.xml" Id="R6588ffd320ef409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4978a198524ce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acb387e56e40f9" /><Relationship Type="http://schemas.openxmlformats.org/officeDocument/2006/relationships/notesMaster" Target="/ppt/notesMasters/notesMaster1.xml" Id="Re822c744ff004e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51e179bf49f44fd" /><Relationship Type="http://schemas.openxmlformats.org/officeDocument/2006/relationships/notesMaster" Target="/ppt/notesMasters/notesMaster1.xml" Id="Rf0255a94978e498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d1f8170b47495f" /><Relationship Type="http://schemas.openxmlformats.org/officeDocument/2006/relationships/notesMaster" Target="/ppt/notesMasters/notesMaster1.xml" Id="Rf534b95bc5ed455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16cf47aa9c2454a" /><Relationship Type="http://schemas.openxmlformats.org/officeDocument/2006/relationships/notesMaster" Target="/ppt/notesMasters/notesMaster1.xml" Id="Re3417af6c79541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259777ff9a446a" /><Relationship Type="http://schemas.openxmlformats.org/officeDocument/2006/relationships/notesMaster" Target="/ppt/notesMasters/notesMaster1.xml" Id="Rdd9650e6f26444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3e40d27ddd74864" /><Relationship Type="http://schemas.openxmlformats.org/officeDocument/2006/relationships/notesMaster" Target="/ppt/notesMasters/notesMaster1.xml" Id="R81ba6473b60147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a12751a08742ae" /><Relationship Type="http://schemas.openxmlformats.org/officeDocument/2006/relationships/notesMaster" Target="/ppt/notesMasters/notesMaster1.xml" Id="R15b6737417ee4c0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a96ac1e957e4f8f" /><Relationship Type="http://schemas.openxmlformats.org/officeDocument/2006/relationships/notesMaster" Target="/ppt/notesMasters/notesMaster1.xml" Id="Rab977894b46a4bb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be030d29ce54a03" /><Relationship Type="http://schemas.openxmlformats.org/officeDocument/2006/relationships/notesMaster" Target="/ppt/notesMasters/notesMaster1.xml" Id="R9d1691ac39d048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b5870a7b5844b6" /><Relationship Type="http://schemas.openxmlformats.org/officeDocument/2006/relationships/notesMaster" Target="/ppt/notesMasters/notesMaster1.xml" Id="R1291f2cc3b6944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86074f549e4436" /><Relationship Type="http://schemas.openxmlformats.org/officeDocument/2006/relationships/notesMaster" Target="/ppt/notesMasters/notesMaster1.xml" Id="Ra18c3bac764149a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1e3ceee36f4227" /><Relationship Type="http://schemas.openxmlformats.org/officeDocument/2006/relationships/notesMaster" Target="/ppt/notesMasters/notesMaster1.xml" Id="Rb6db4dcae371451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a9b246c8f824831" /><Relationship Type="http://schemas.openxmlformats.org/officeDocument/2006/relationships/notesMaster" Target="/ppt/notesMasters/notesMaster1.xml" Id="Rf4d4af5a91f14c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643b04401b44699" /><Relationship Type="http://schemas.openxmlformats.org/officeDocument/2006/relationships/notesMaster" Target="/ppt/notesMasters/notesMaster1.xml" Id="R2059413d4332454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Партия: 10 × Cisco 7945G. Модель подтверждена письмом eBay о доставке от 1 декабря 2022 года. Адрес доставки и платёжные данные в репозиторий не включены. Состояние и прошивка каждого сохранившегося аппарата требуют инвентаризации. Обновлено: 17 октября 2026 года. Слайды описывают план и архитектуру, а не подтверждают установку в доме.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Модель и количество подтверждены письмом eBay о доставке 01.12.2022. Cisco firmware family 7945_7965: https://www.cisco.com/web/software/282074288/128566/cmterm-7945_7965-sip.9-4-2SR2-2-readme.html</a:t>
            </a:r>
          </a:p>
          <a:p xmlns:a="http://schemas.openxmlformats.org/drawingml/2006/main">
            <a:r>
              <a:t>PoE: https://www.cisco.com/c/en/us/support/docs/voice-unified-communications/unified-ip-phone-7900-series/97869-poe-requirement-faq.html</a:t>
            </a:r>
          </a:p>
          <a:p xmlns:a="http://schemas.openxmlformats.org/drawingml/2006/main">
            <a:r>
              <a:t>Поддержка SIP подтверждает наличие прошивки. Совместимость функций с Asterisk проверяется в пилоте.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Проектное решение: одна реплика Asterisk на закреплённом LAN-узле, hostNetwork, постоянный LAN IP. Существующий router DHCP сохраняется. TFTP включается по необходимости. HA открывает TCP AMI к Asterisk. Для Assist Asterisk открывает SIP к HA VoIP, голос идёт в обе стороны. Home Assistant может работать на отдельном LAN-узле или через существующий VPN, HTTP Ingress не передаёт эти протоколы. Kubernetes: https://kubernetes.io/docs/concepts/workloads/controllers/deployment/</a:t>
            </a:r>
          </a:p>
          <a:p xmlns:a="http://schemas.openxmlformats.org/drawingml/2006/main">
            <a:r>
              <a:t>PJSIP: https://docs.asterisk.org/Configuration/Channel-Drivers/SIP/Configuring-res_pjsip/res_pjsip-Configuration-Examples/</a:t>
            </a:r>
          </a:p>
          <a:p xmlns:a="http://schemas.openxmlformats.org/drawingml/2006/main">
            <a:r>
              <a:t>HA: https://github.com/ha-homelab/asterisk-telephony</a:t>
            </a:r>
          </a:p>
          <a:p xmlns:a="http://schemas.openxmlformats.org/drawingml/2006/main">
            <a:r>
              <a:t>VoIP: https://www.home-assistant.io/integrations/voip/</a:t>
            </a:r>
          </a:p>
          <a:p xmlns:a="http://schemas.openxmlformats.org/drawingml/2006/main">
            <a:r>
              <a:t>См. docs/k3s-deployment.md и docs/home-assistant.md.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Проектные порты на PBX: SIP TCP5060 по умолчанию, UDP5060 opt-in, RTP UDP10000–10199. Для tftpd-hpa UDP69 и UDP20000–20031. AMI TCP5038 только от фактического HA IP/32. HA VoIP слушает SIP UDP5060 либо выбранный порт и динамические RTP/RTCP UDP-порты, доступные только от PBX. Cisco RTP: UDP16384–16482. Firewall должен учитывать обе стороны потока. NetworkPolicy не является единственной защитой hostNetwork. PJSIP: https://docs.asterisk.org/Configuration/Channel-Drivers/SIP/Configuring-res_pjsip/res_pjsip-Configuration-Examples/</a:t>
            </a:r>
          </a:p>
          <a:p xmlns:a="http://schemas.openxmlformats.org/drawingml/2006/main">
            <a:r>
              <a:t>VoIP: https://www.home-assistant.io/integrations/voip/</a:t>
            </a:r>
          </a:p>
          <a:p xmlns:a="http://schemas.openxmlformats.org/drawingml/2006/main">
            <a:r>
              <a:t>См. docs/home-assistant.md.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Cisco 7945G поддерживает IEEE 802.3af: https://www.cisco.com/c/en/us/support/docs/voice-unified-communications/unified-ip-phone-7900-series/97869-poe-requirement-faq.html</a:t>
            </a:r>
          </a:p>
          <a:p xmlns:a="http://schemas.openxmlformats.org/drawingml/2006/main">
            <a:r>
              <a:t>Если существующий коммутатор без PoE, нужен активный IEEE 802.3af injector или PoE switch, аппаратная переделка телефона не требуется. Подключать в сетевой порт SW/Network. Проверять бюджет порта и суммарный бюджет коммутатора. Для питания при отключении электроэнергии нужен UPS всей цепочке.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Универсальной команды factory reset для всех состояний нет. Требуется проверить текущую App Load и цепочку обновления. Cisco README для семейства 7945_7965: https://www.cisco.com/web/software/282074288/128566/cmterm-7945_7965-sip.9-4-2SR2-2-readme.html</a:t>
            </a:r>
          </a:p>
          <a:p xmlns:a="http://schemas.openxmlformats.org/drawingml/2006/main">
            <a:r>
              <a:t>Для HW13.0+ запрещён downgrade ниже 9.3(1)SR3. Нельзя применять промежуточную 8.5(2) ко всей партии. Для исходной версии до 8.3(3) при переходе к 9.3(1)+ требуется промежуточный этап 8.3(3)–8.5(2), с дополнительными оговорками в release notes конкретной версии: https://www.cisco.com/en/US/docs/voice_ip_comm/cuipph/7900_series/firmware/9_3_1SR4/english/release_notes/P790_BK_RF3660D6_00_rn-9_3_1sr4-7900-series_chapter_00.pdf</a:t>
            </a:r>
          </a:p>
          <a:p xmlns:a="http://schemas.openxmlformats.org/drawingml/2006/main">
            <a:r>
              <a:t>Пакет Cisco получают легально, SHA-256 фиксируют локально. Одного .loads недостаточно.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Cisco: https://www.cisco.com/web/software/282074288/128566/cmterm-7945_7965-sip.9-4-2SR2-2-readme.html</a:t>
            </a:r>
          </a:p>
          <a:p xmlns:a="http://schemas.openxmlformats.org/drawingml/2006/main">
            <a:r>
              <a:t>Точное имя loadInformation выбирается из README и .loads выбранного пакета. Нельзя переносить файл от 7942/7962. SEP filenames используют MAC без разделителей и верхний регистр. Конфигурация может содержать SIP-пароль, поэтому TFTP доступен только доверенной LAN. DHCP option 150 задают на существующем DHCP-сервере либо используют Alternate TFTP телефона.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PJSIP examples: https://docs.asterisk.org/Configuration/Channel-Drivers/SIP/Configuring-res_pjsip/res_pjsip-Configuration-Examples/</a:t>
            </a:r>
          </a:p>
          <a:p xmlns:a="http://schemas.openxmlformats.org/drawingml/2006/main">
            <a:r>
              <a:t>Проектный baseline: endpoint/auth/aor на каждый аппарат, уникальный пароль, transport согласован с phone XML. TCP по умолчанию, UDP для телефонов включают явно. Кодеки G.711 ulaw/alaw, direct_media=no удерживает RTP через Asterisk. NAT-настройки не добавляют без необходимости в плоской LAN. Стартовый сценарий ограничен внутренними звонками без PSTN/SIP trunk. Тестовые номера 600 echo, 601 tone, 620 ring group, 630 Assist при включённой HA-интеграции.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Установка и пакет HA: https://github.com/ha-homelab/asterisk-telephony</a:t>
            </a:r>
          </a:p>
          <a:p xmlns:a="http://schemas.openxmlformats.org/drawingml/2006/main">
            <a:r>
              <a:t>Проверенная TECH7Fox Asterisk integration v1.0.5, commit: https://github.com/TECH7Fox/asterisk-hass-integration/tree/65ea9d637a58d6edb3b2bc9e8a6f90de896a9b3e</a:t>
            </a:r>
          </a:p>
          <a:p xmlns:a="http://schemas.openxmlformats.org/drawingml/2006/main">
            <a:r>
              <a:t>HA открывает обычное TCP5038 к PBX, без TLS. Разрешён только фактический адрес источника /32 через LAN или VPN. Отдельные секреты .local/ha-ami-secret.json не входят в Git и phone XML. read=call,dtmf; write=system плюс originate только при allow_originate:true. system нужен upstream для discovery, но также разрешает Hangup и другие административные действия, поэтому это не read-only доступ. Один глобальный service asterisk.send_action на HA, без выбора нескольких PBX. DTMF timestamp-state и атрибут Digit; направления Sent/Received относятся к Asterisk. Registered вычисляется из DeviceState, не заменяет pjsip show contacts. Нужны реальные entity IDs и проверка на двух аппаратах.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Официальная VoIP-интеграция HA: https://www.home-assistant.io/integrations/voip/</a:t>
            </a:r>
          </a:p>
          <a:p xmlns:a="http://schemas.openxmlformats.org/drawingml/2006/main">
            <a:r>
              <a:t>Установка и приёмка: https://github.com/ha-homelab/asterisk-telephony</a:t>
            </a:r>
          </a:p>
          <a:p xmlns:a="http://schemas.openxmlformats.org/drawingml/2006/main">
            <a:r>
              <a:t>Закреплённый Opus transcoder: https://github.com/wazo-platform/wazo-codec-opus-open-source/tree/591b6cd9b75e2b9b6d815ef364a385fccee595a7</a:t>
            </a:r>
          </a:p>
          <a:p xmlns:a="http://schemas.openxmlformats.org/drawingml/2006/main">
            <a:r>
              <a:t>Cisco 7945G использует G.711, проверенная HA 2026.10.2 VoIP требует Opus. Asterisk транскодирует звук в обе стороны через модуль, собранный из исходников Wazo. Проверки translation paths и контейнерные smoke подтверждают серверную часть, не разговор с домашним аппаратом. SIP к Cisco по умолчанию TCP5060, к HA UDP5060 либо явно выбранный порт. PBX RTP10000–10199, у HA динамические RTP/RTCP UDP-порты. Allow calls и выбор pipeline включают для обнаруженного VoIP device. SIP From сохраняет внутренний номер, в том числе при Originate из HA. Проверить STT, ответ TTS, завершение и повторный вызов. AMI передаёт события и команды, голос не передаёт.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См. README.md, docs/pbx-bootstrap.md, docs/k3s-deployment.md, docs/home-assistant.md, scripts/ и deploy/. namespace: telephony. Bootstrap означает подготовку серверной части, образов и сетевых правил до подключения проверенного телефона, а не завершённый звонок. Для него существует явный provision.py --pbx-only, без фиктивных MAC, телефонных endpoint и TFTP. Начальные allow_originate:false и assist.enabled:false сохраняются до проверки условий подключения. Локальные site/inventory и секреты не коммитятся. Перед TFTP нужен фактический инвентарь аппарата и подходящий проверенный firmware. Точные команды генерации и применения брать из актуального runbook. Одна реплика Asterisk и Recreate предотвращают конфликт hostNetwork-портов. HA-компонент сначала staging, затем отдельное окно установки в существующий HA. k3s: https://docs.k3s.io/installation/requirements</a:t>
            </a:r>
          </a:p>
          <a:p xmlns:a="http://schemas.openxmlformats.org/drawingml/2006/main">
            <a:r>
              <a:t>HA: https://github.com/ha-homelab/asterisk-telephony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Критерии проекта, а не заявление о завершённой установке в доме. Нужны два физических аппарата с проверенным инвентарём. Проверить регистрацию pjsip show contacts, вызовы 201→202 и 202→201, звук в обе стороны, DTMF/echo, hold/transfer и время. Затем состояния HA, Originate, Hangup фактического активного Channel и безопасный DTMF notification. DTMF Sent/Received определить на пилоте. Номер 630: Allow calls, pipeline, корректная отдельная идентичность каждого телефона, STT, TTS и завершение. Повторить после cold boot телефона и контролируемого restart PBX/HA. Автоматические runtime/smoke проверки не заменяют физическую приёмку. https://github.com/ha-homelab/asterisk-telephony/blob/main/docs/acceptance.md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Проектные эксплуатационные требования. Поддерживается один узел для телефонии, это не высокая доступность. Backup включает inventory, SIP/AMI секреты, конфиги, persistent Asterisk data, provenance firmware, HA config/.storage и entity mapping. Проверять restore отдельно. Не публиковать SIP/AMI пароли и firmware binaries. В HA исключить сырые DTMF/call sensors из Recorder, исключения не удаляют старую историю. Откат home_assistant.enabled:false отключает AMI и маршрут630 после генерации и применения, базовые внутренние звонки остаются. См. docs/operations.md и https://github.com/ha-homelab/asterisk-telephony/blob/main/docs/privacy.md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Состояние реального оборудования фиксируется отдельно в локальном журнале приёмки. Слайды не утверждают, что сервер уже установлен в доме или первый звонок завершён. Фактическое количество сохранившихся устройств, PID/HW/MAC, App Load, сетевые адреса и питание требуют инвентаризации. Успешные автоматические тесты подтверждают компоненты и конфигурацию. Физическая приёмка включает голос, HA call control, DTMF и Assist на реальных телефонах. После пилота подключать оставшуюся партию по одному.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a4caf4ca4c48c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ddeef38eab479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a36c05186b46c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4342a77e7444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e6ff93e677435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db06dc008248a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E379697-7D0F-4023-A01C-D842D170B5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8B12FDD-ED8C-451D-A326-DE97C9AF2B9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AB3747B-20E8-4679-8047-DDA907E7F2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36CC91-0F06-4134-90BD-821818B227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EBF8B9B-585F-425F-9C47-895C0290D0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D0F2D11-392E-4446-A037-D00D25E7B9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BB423C3-35DB-4ED7-A7C9-AE50E990AB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13909B4-B73F-4A29-898F-9DF1654EE7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E65794-4782-49D6-86D7-F62A5724A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08B1418-DADB-4151-A5B0-CD14A23110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9cf9e624f54624" /><Relationship Type="http://schemas.openxmlformats.org/officeDocument/2006/relationships/slideLayout" Target="/ppt/slideLayouts/slideLayout1.xml" Id="R174d7d0bbc484b02" /><Relationship Type="http://schemas.openxmlformats.org/officeDocument/2006/relationships/slideLayout" Target="/ppt/slideLayouts/slideLayout2.xml" Id="R8e4d7040864d4139" /><Relationship Type="http://schemas.openxmlformats.org/officeDocument/2006/relationships/slideLayout" Target="/ppt/slideLayouts/slideLayout3.xml" Id="Re1aa3554483b4c92" /><Relationship Type="http://schemas.openxmlformats.org/officeDocument/2006/relationships/slideLayout" Target="/ppt/slideLayouts/slideLayout4.xml" Id="R3e73f35f951e4508" /><Relationship Type="http://schemas.openxmlformats.org/officeDocument/2006/relationships/slideLayout" Target="/ppt/slideLayouts/slideLayout5.xml" Id="R81670aadc5ba4719" /><Relationship Type="http://schemas.openxmlformats.org/officeDocument/2006/relationships/slideLayout" Target="/ppt/slideLayouts/slideLayout6.xml" Id="R4faacd52c4aa45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4d7d0bbc484b02"/>
    <p:sldLayoutId xmlns:r="http://schemas.openxmlformats.org/officeDocument/2006/relationships" id="2147483650" r:id="R8e4d7040864d4139"/>
    <p:sldLayoutId xmlns:r="http://schemas.openxmlformats.org/officeDocument/2006/relationships" id="2147483651" r:id="Re1aa3554483b4c92"/>
    <p:sldLayoutId xmlns:r="http://schemas.openxmlformats.org/officeDocument/2006/relationships" id="2147483652" r:id="R3e73f35f951e4508"/>
    <p:sldLayoutId xmlns:r="http://schemas.openxmlformats.org/officeDocument/2006/relationships" id="2147483653" r:id="R81670aadc5ba4719"/>
    <p:sldLayoutId xmlns:r="http://schemas.openxmlformats.org/officeDocument/2006/relationships" id="2147483654" r:id="R4faacd52c4aa45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9e0d911ab84f0c" /><Relationship Type="http://schemas.openxmlformats.org/officeDocument/2006/relationships/notesSlide" Target="/ppt/notesSlides/notesSlide1.xml" Id="Ra15f1b2b77db47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b1662513e84c2c" /><Relationship Type="http://schemas.openxmlformats.org/officeDocument/2006/relationships/notesSlide" Target="/ppt/notesSlides/notesSlide2.xml" Id="R382cfbaa0a8d4a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7f6980a8e04a5e" /><Relationship Type="http://schemas.openxmlformats.org/officeDocument/2006/relationships/notesSlide" Target="/ppt/notesSlides/notesSlide3.xml" Id="Ra3a6fd42e29c495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a3bb9f44f6d4e11" /><Relationship Type="http://schemas.openxmlformats.org/officeDocument/2006/relationships/notesSlide" Target="/ppt/notesSlides/notesSlide4.xml" Id="R6567184649ca4d1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26164d2b8954f76" /><Relationship Type="http://schemas.openxmlformats.org/officeDocument/2006/relationships/notesSlide" Target="/ppt/notesSlides/notesSlide5.xml" Id="R644550bace2f4ba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c77e79731aa4baf" /><Relationship Type="http://schemas.openxmlformats.org/officeDocument/2006/relationships/notesSlide" Target="/ppt/notesSlides/notesSlide6.xml" Id="R137a0e05f2c143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212a55d53c0437d" /><Relationship Type="http://schemas.openxmlformats.org/officeDocument/2006/relationships/notesSlide" Target="/ppt/notesSlides/notesSlide7.xml" Id="Rcc29859bd4df4f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321005898a4e43" /><Relationship Type="http://schemas.openxmlformats.org/officeDocument/2006/relationships/notesSlide" Target="/ppt/notesSlides/notesSlide8.xml" Id="R18277c1f408446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7c030f1a0c47b4" /><Relationship Type="http://schemas.openxmlformats.org/officeDocument/2006/relationships/notesSlide" Target="/ppt/notesSlides/notesSlide9.xml" Id="R890c5fa3814744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bcfacc0c834eba" /><Relationship Type="http://schemas.openxmlformats.org/officeDocument/2006/relationships/notesSlide" Target="/ppt/notesSlides/notesSlide10.xml" Id="Rdeabf80968fd42b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cde0b0f0a94875" /><Relationship Type="http://schemas.openxmlformats.org/officeDocument/2006/relationships/notesSlide" Target="/ppt/notesSlides/notesSlide11.xml" Id="Raa7937974eb64f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64bd0ba5f8460f" /><Relationship Type="http://schemas.openxmlformats.org/officeDocument/2006/relationships/notesSlide" Target="/ppt/notesSlides/notesSlide12.xml" Id="R20e305c8e8e1426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3a573d08544278" /><Relationship Type="http://schemas.openxmlformats.org/officeDocument/2006/relationships/notesSlide" Target="/ppt/notesSlides/notesSlide13.xml" Id="Rb4ff5420b2e74ae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69e261904a4d97" /><Relationship Type="http://schemas.openxmlformats.org/officeDocument/2006/relationships/notesSlide" Target="/ppt/notesSlides/notesSlide14.xml" Id="Rc8834aadf2f3415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6DD3D-B939-413F-A656-833F57EF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r>
              <a:t/>
            </a:r>
          </a:p>
        </p:txBody>
      </p:sp>
      <p:sp>
        <p:nvSpPr>
          <p:cNvPr id="2" name="01">
            <a:extLst xmlns:a="http://schemas.openxmlformats.org/drawingml/2006/main">
              <a:ext uri="{FF2B5EF4-FFF2-40B4-BE49-F238E27FC236}">
                <a16:creationId xmlns:a16="http://schemas.microsoft.com/office/drawing/2014/main" id="{44014F7A-F72B-403A-8902-93A9BDCAB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Cisco 7945G">
            <a:extLst xmlns:a="http://schemas.openxmlformats.org/drawingml/2006/main">
              <a:ext uri="{FF2B5EF4-FFF2-40B4-BE49-F238E27FC236}">
                <a16:creationId xmlns:a16="http://schemas.microsoft.com/office/drawing/2014/main" id="{1F8D76F6-CEA0-4B14-8571-0A6B2A970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85875"/>
            <a:ext cx="1104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6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Cisco 7945G</a:t>
            </a:r>
          </a:p>
        </p:txBody>
      </p:sp>
      <p:sp>
        <p:nvSpPr>
          <p:cNvPr id="4" name="Домашняя телефония">
            <a:extLst xmlns:a="http://schemas.openxmlformats.org/drawingml/2006/main">
              <a:ext uri="{FF2B5EF4-FFF2-40B4-BE49-F238E27FC236}">
                <a16:creationId xmlns:a16="http://schemas.microsoft.com/office/drawing/2014/main" id="{27C19BF9-8566-4B6B-91DA-9806DB81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24125"/>
            <a:ext cx="11049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5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45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45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Домашняя телефония</a:t>
            </a:r>
          </a:p>
        </p:txBody>
      </p:sp>
      <p:sp>
        <p:nvSpPr>
          <p:cNvPr id="5" name="Asterisk в k3s + Home Assistant">
            <a:extLst xmlns:a="http://schemas.openxmlformats.org/drawingml/2006/main">
              <a:ext uri="{FF2B5EF4-FFF2-40B4-BE49-F238E27FC236}">
                <a16:creationId xmlns:a16="http://schemas.microsoft.com/office/drawing/2014/main" id="{4FBFEAEB-B44B-4D63-A63E-F725ADDF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0000"/>
            <a:ext cx="10477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0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75" b="0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3075" b="0">
                <a:solidFill>
                  <a:srgbClr val="FF836D"/>
                </a:solidFill>
                <a:latin typeface="Arial"/>
                <a:ea typeface="Arial"/>
                <a:cs typeface="Arial"/>
              </a:rPr>
              <a:t>Asterisk в k3s + Home Assistant</a:t>
            </a:r>
          </a:p>
        </p:txBody>
      </p:sp>
      <p:sp>
        <p:nvSpPr>
          <p:cNvPr id="6" name="10 аппаратов с цветным экраном">
            <a:extLst xmlns:a="http://schemas.openxmlformats.org/drawingml/2006/main">
              <a:ext uri="{FF2B5EF4-FFF2-40B4-BE49-F238E27FC236}">
                <a16:creationId xmlns:a16="http://schemas.microsoft.com/office/drawing/2014/main" id="{66FF618E-F30D-4679-824F-8C8C6C7B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10 аппаратов с цветным экраном</a:t>
            </a:r>
          </a:p>
        </p:txBody>
      </p:sp>
    </p:spTree>
    <p:extLst>
      <p:ext uri="{BB962C8B-B14F-4D97-AF65-F5344CB8AC3E}">
        <p14:creationId xmlns:p14="http://schemas.microsoft.com/office/powerpoint/2010/main" val="6820507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Наша партия: 10 × Cisco 7945G">
            <a:extLst xmlns:a="http://schemas.openxmlformats.org/drawingml/2006/main">
              <a:ext uri="{FF2B5EF4-FFF2-40B4-BE49-F238E27FC236}">
                <a16:creationId xmlns:a16="http://schemas.microsoft.com/office/drawing/2014/main" id="{B95F85FF-4464-479B-AEA1-F6F4E104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Наша партия: 10 × Cisco 7945G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00E49DFB-0E45-481B-86F6-123FE6D2D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737E7DAD-7261-43EE-9C29-46B004EEA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762125"/>
            <a:ext cx="238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9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99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990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телефонов">
            <a:extLst xmlns:a="http://schemas.openxmlformats.org/drawingml/2006/main">
              <a:ext uri="{FF2B5EF4-FFF2-40B4-BE49-F238E27FC236}">
                <a16:creationId xmlns:a16="http://schemas.microsoft.com/office/drawing/2014/main" id="{441F36B9-8182-46C7-9ED5-323247CCB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телефонов</a:t>
            </a:r>
          </a:p>
        </p:txBody>
      </p:sp>
      <p:sp>
        <p:nvSpPr>
          <p:cNvPr id="5" name="SIP-прошивка семейства 7945_7965">
            <a:extLst xmlns:a="http://schemas.openxmlformats.org/drawingml/2006/main">
              <a:ext uri="{FF2B5EF4-FFF2-40B4-BE49-F238E27FC236}">
                <a16:creationId xmlns:a16="http://schemas.microsoft.com/office/drawing/2014/main" id="{7878C64C-5385-4D5C-8DF0-B27F7694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714500"/>
            <a:ext cx="771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SIP-прошивка семейства 7945_7965</a:t>
            </a:r>
          </a:p>
        </p:txBody>
      </p:sp>
      <p:sp>
        <p:nvSpPr>
          <p:cNvPr id="6" name="Если сейчас SCCP, нужен переход на SIP.&#10;MPP-конверсия этой модели">
            <a:extLst xmlns:a="http://schemas.openxmlformats.org/drawingml/2006/main">
              <a:ext uri="{FF2B5EF4-FFF2-40B4-BE49-F238E27FC236}">
                <a16:creationId xmlns:a16="http://schemas.microsoft.com/office/drawing/2014/main" id="{905225CB-9350-4670-AE90-AD0D2152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62250"/>
            <a:ext cx="76676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Если сейчас SCCP, нужен переход на SIP.</a:t>
            </a:r>
          </a:p>
          <a:p xmlns:a="http://schemas.openxmlformats.org/drawingml/2006/main">
            <a:pPr algn="l">
              <a:defRPr sz="20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MPP-конверсия этой модели не требуется.</a:t>
            </a:r>
          </a:p>
        </p:txBody>
      </p:sp>
      <p:sp>
        <p:nvSpPr>
          <p:cNvPr id="7" name="Перед работой">
            <a:extLst xmlns:a="http://schemas.openxmlformats.org/drawingml/2006/main">
              <a:ext uri="{FF2B5EF4-FFF2-40B4-BE49-F238E27FC236}">
                <a16:creationId xmlns:a16="http://schemas.microsoft.com/office/drawing/2014/main" id="{41EAA175-F5AD-4AB4-B70F-56F878517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429125"/>
            <a:ext cx="7524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Перед работой</a:t>
            </a:r>
          </a:p>
        </p:txBody>
      </p:sp>
      <p:sp>
        <p:nvSpPr>
          <p:cNvPr id="8" name="С каждого телефона: PID, VID/HW, MAC,&#10;App Load, Boot Load, IP и T">
            <a:extLst xmlns:a="http://schemas.openxmlformats.org/drawingml/2006/main">
              <a:ext uri="{FF2B5EF4-FFF2-40B4-BE49-F238E27FC236}">
                <a16:creationId xmlns:a16="http://schemas.microsoft.com/office/drawing/2014/main" id="{C19C5111-B570-43D6-842D-834CF0F03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4953000"/>
            <a:ext cx="7667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С каждого телефона: PID, VID/HW, MAC,</a:t>
            </a:r>
          </a:p>
          <a:p xmlns:a="http://schemas.openxmlformats.org/drawingml/2006/main">
            <a: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App Load, Boot Load, IP и TFTP.</a:t>
            </a:r>
          </a:p>
        </p:txBody>
      </p:sp>
    </p:spTree>
    <p:extLst>
      <p:ext uri="{BB962C8B-B14F-4D97-AF65-F5344CB8AC3E}">
        <p14:creationId xmlns:p14="http://schemas.microsoft.com/office/powerpoint/2010/main" val="174453003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4AFF8A-C78B-4941-BDDE-4A3C6995C82F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9739313" y="2947988"/>
            <a:ext cx="0" cy="1157287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7CB64"/>
            </a:solidFill>
            <a:headEnd type="triangle" w="sm" len="sm"/>
            <a:tailEnd type="triangle" w="sm" len="sm"/>
          </a:ln>
        </p:spPr>
      </p:cxnSp>
      <p:cxnSp>
        <p:nvCxn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865F25-E42B-4415-8997-E23160023BEA}"/>
              </a:ext>
            </a:extLst>
          </p:cNvPr>
          <p:cNvCxnSpPr>
            <a:stCxn xmlns:a="http://schemas.openxmlformats.org/drawingml/2006/main" id="7" idx="0"/>
            <a:endCxn xmlns:a="http://schemas.openxmlformats.org/drawingml/2006/main" id="3" idx="2"/>
          </p:cNvCxnSpPr>
          <p:nvPr/>
        </p:nvCxnSpPr>
        <p:spPr>
          <a:xfrm xmlns:a="http://schemas.openxmlformats.org/drawingml/2006/main" flipV="1">
            <a:off x="2131220" y="2947988"/>
            <a:ext cx="0" cy="1157287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F836D"/>
            </a:solidFill>
            <a:tailEnd type="triangle" w="sm" len="sm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EC2A84F-48FA-4743-8978-C22BE57FC5B2}"/>
              </a:ext>
            </a:extLst>
          </p:cNvPr>
          <p:cNvCxnSpPr>
            <a:stCxn xmlns:a="http://schemas.openxmlformats.org/drawingml/2006/main" id="6" idx="0"/>
            <a:endCxn xmlns:a="http://schemas.openxmlformats.org/drawingml/2006/main" id="4" idx="2"/>
          </p:cNvCxnSpPr>
          <p:nvPr/>
        </p:nvCxnSpPr>
        <p:spPr>
          <a:xfrm xmlns:a="http://schemas.openxmlformats.org/drawingml/2006/main" flipV="1">
            <a:off x="5753100" y="2947988"/>
            <a:ext cx="0" cy="1157287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7CB64"/>
            </a:solidFill>
            <a:tailEnd type="triangle" w="sm" len="sm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6B7569-679E-4FFF-BAF3-C620BA8BA35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6996113" y="2433638"/>
            <a:ext cx="1328737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headEnd type="triangle" w="sm" len="sm"/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88188D-22D9-47C1-97D6-A5C37471B3A2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267076" y="2433638"/>
            <a:ext cx="1243012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headEnd type="triangle" w="sm" len="sm"/>
            <a:tailEnd type="triangle" w="sm" len="sm"/>
          </a:ln>
        </p:spPr>
      </p:cxnSp>
      <p:sp>
        <p:nvSpPr>
          <p:cNvPr id="20" name="Cisco, Asterisk и Home Assistant">
            <a:extLst xmlns:a="http://schemas.openxmlformats.org/drawingml/2006/main">
              <a:ext uri="{FF2B5EF4-FFF2-40B4-BE49-F238E27FC236}">
                <a16:creationId xmlns:a16="http://schemas.microsoft.com/office/drawing/2014/main" id="{DA5995D9-70EA-465B-AD38-740267776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Cisco, Asterisk и Home Assistant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5EDBAC82-7B95-4142-A214-1F648F3DF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phones">
            <a:extLst xmlns:a="http://schemas.openxmlformats.org/drawingml/2006/main">
              <a:ext uri="{FF2B5EF4-FFF2-40B4-BE49-F238E27FC236}">
                <a16:creationId xmlns:a16="http://schemas.microsoft.com/office/drawing/2014/main" id="{3BE2E3A0-1A71-48F2-AB5E-863268EE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3" y="1919288"/>
            <a:ext cx="2271713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10 × Cisco 7945G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PoE 802.3af</a:t>
            </a:r>
          </a:p>
        </p:txBody>
      </p:sp>
      <p:sp>
        <p:nvSpPr>
          <p:cNvPr id="4" name="switch">
            <a:extLst xmlns:a="http://schemas.openxmlformats.org/drawingml/2006/main">
              <a:ext uri="{FF2B5EF4-FFF2-40B4-BE49-F238E27FC236}">
                <a16:creationId xmlns:a16="http://schemas.microsoft.com/office/drawing/2014/main" id="{CB69E69C-9F2D-4B3A-906C-4228192FD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0088" y="1919288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PoE-коммутатор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Voice LAN / VLAN</a:t>
            </a:r>
          </a:p>
        </p:txBody>
      </p:sp>
      <p:sp>
        <p:nvSpPr>
          <p:cNvPr id="5" name="ast">
            <a:extLst xmlns:a="http://schemas.openxmlformats.org/drawingml/2006/main">
              <a:ext uri="{FF2B5EF4-FFF2-40B4-BE49-F238E27FC236}">
                <a16:creationId xmlns:a16="http://schemas.microsoft.com/office/drawing/2014/main" id="{C254C9C4-2471-40D8-8A42-799126E0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19288"/>
            <a:ext cx="28289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Asterisk / PJSIP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фиксированный IP</a:t>
            </a:r>
          </a:p>
        </p:txBody>
      </p:sp>
      <p:sp>
        <p:nvSpPr>
          <p:cNvPr id="6" name="router">
            <a:extLst xmlns:a="http://schemas.openxmlformats.org/drawingml/2006/main">
              <a:ext uri="{FF2B5EF4-FFF2-40B4-BE49-F238E27FC236}">
                <a16:creationId xmlns:a16="http://schemas.microsoft.com/office/drawing/2014/main" id="{4AE89BA2-B4A3-4FD6-823B-3891D2F0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0088" y="4105275"/>
            <a:ext cx="2486025" cy="942975"/>
          </a:xfrm>
          <a:prstGeom xmlns:a="http://schemas.openxmlformats.org/drawingml/2006/main" prst="roundRect">
            <a:avLst>
              <a:gd name="adj" fmla="val 10101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7CB64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Маршрутизатор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DHCP option 150</a:t>
            </a:r>
          </a:p>
        </p:txBody>
      </p:sp>
      <p:sp>
        <p:nvSpPr>
          <p:cNvPr id="7" name="tftp">
            <a:extLst xmlns:a="http://schemas.openxmlformats.org/drawingml/2006/main">
              <a:ext uri="{FF2B5EF4-FFF2-40B4-BE49-F238E27FC236}">
                <a16:creationId xmlns:a16="http://schemas.microsoft.com/office/drawing/2014/main" id="{93585BD0-0191-4DA3-89CC-84E5DD40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3" y="4105275"/>
            <a:ext cx="2271713" cy="942975"/>
          </a:xfrm>
          <a:prstGeom xmlns:a="http://schemas.openxmlformats.org/drawingml/2006/main" prst="roundRect">
            <a:avLst>
              <a:gd name="adj" fmla="val 10101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F836D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TFTP временно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прошивка и XML</a:t>
            </a:r>
          </a:p>
        </p:txBody>
      </p:sp>
      <p:sp>
        <p:nvSpPr>
          <p:cNvPr id="8" name="ha">
            <a:extLst xmlns:a="http://schemas.openxmlformats.org/drawingml/2006/main">
              <a:ext uri="{FF2B5EF4-FFF2-40B4-BE49-F238E27FC236}">
                <a16:creationId xmlns:a16="http://schemas.microsoft.com/office/drawing/2014/main" id="{B86FF74A-8840-4E57-92FD-9957DD4F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05275"/>
            <a:ext cx="2828925" cy="942975"/>
          </a:xfrm>
          <a:prstGeom xmlns:a="http://schemas.openxmlformats.org/drawingml/2006/main" prst="roundRect">
            <a:avLst>
              <a:gd name="adj" fmla="val 10101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7CB64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Home Assistant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AMI + VoIP / Assist</a:t>
            </a:r>
          </a:p>
        </p:txBody>
      </p:sp>
      <p:sp>
        <p:nvSpPr>
          <p:cNvPr id="10" name="Ethernet">
            <a:extLst xmlns:a="http://schemas.openxmlformats.org/drawingml/2006/main">
              <a:ext uri="{FF2B5EF4-FFF2-40B4-BE49-F238E27FC236}">
                <a16:creationId xmlns:a16="http://schemas.microsoft.com/office/drawing/2014/main" id="{9BAA5727-B6CC-4F2C-85EC-185474FA5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3706" y="2086928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DDCC"/>
                </a:solidFill>
                <a:latin typeface="Arial"/>
                <a:ea typeface="Arial"/>
                <a:cs typeface="Arial"/>
              </a:rPr>
              <a:t>Ethernet</a:t>
            </a:r>
          </a:p>
        </p:txBody>
      </p:sp>
      <p:sp>
        <p:nvSpPr>
          <p:cNvPr id="12" name="SIP / RTP">
            <a:extLst xmlns:a="http://schemas.openxmlformats.org/drawingml/2006/main">
              <a:ext uri="{FF2B5EF4-FFF2-40B4-BE49-F238E27FC236}">
                <a16:creationId xmlns:a16="http://schemas.microsoft.com/office/drawing/2014/main" id="{D0F58FB1-DEDC-4133-B78B-487A7AF0A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5606" y="2086928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DDCC"/>
                </a:solidFill>
                <a:latin typeface="Arial"/>
                <a:ea typeface="Arial"/>
                <a:cs typeface="Arial"/>
              </a:rPr>
              <a:t>SIP / RTP</a:t>
            </a:r>
          </a:p>
        </p:txBody>
      </p:sp>
      <p:sp>
        <p:nvSpPr>
          <p:cNvPr id="14" name="DHCP">
            <a:extLst xmlns:a="http://schemas.openxmlformats.org/drawingml/2006/main">
              <a:ext uri="{FF2B5EF4-FFF2-40B4-BE49-F238E27FC236}">
                <a16:creationId xmlns:a16="http://schemas.microsoft.com/office/drawing/2014/main" id="{8E719149-34BA-4C37-963C-6396AC0C7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339852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7CB64"/>
                </a:solidFill>
                <a:latin typeface="Arial"/>
                <a:ea typeface="Arial"/>
                <a:cs typeface="Arial"/>
              </a:rPr>
              <a:t>DHCP</a:t>
            </a:r>
          </a:p>
        </p:txBody>
      </p:sp>
      <p:sp>
        <p:nvSpPr>
          <p:cNvPr id="16" name="загрузка">
            <a:extLst xmlns:a="http://schemas.openxmlformats.org/drawingml/2006/main">
              <a:ext uri="{FF2B5EF4-FFF2-40B4-BE49-F238E27FC236}">
                <a16:creationId xmlns:a16="http://schemas.microsoft.com/office/drawing/2014/main" id="{AC580300-713D-4F4F-B230-8D1BD293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9263" y="339852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836D"/>
                </a:solidFill>
                <a:latin typeface="Arial"/>
                <a:ea typeface="Arial"/>
                <a:cs typeface="Arial"/>
              </a:rPr>
              <a:t>загрузка</a:t>
            </a:r>
          </a:p>
        </p:txBody>
      </p:sp>
      <p:sp>
        <p:nvSpPr>
          <p:cNvPr id="18" name="AMI&#10;SIP / RTP">
            <a:extLst xmlns:a="http://schemas.openxmlformats.org/drawingml/2006/main">
              <a:ext uri="{FF2B5EF4-FFF2-40B4-BE49-F238E27FC236}">
                <a16:creationId xmlns:a16="http://schemas.microsoft.com/office/drawing/2014/main" id="{83D1D87F-DE00-471D-B2FB-1CFCCB5AE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20992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7CB64"/>
                </a:solidFill>
                <a:latin typeface="Arial"/>
                <a:ea typeface="Arial"/>
                <a:cs typeface="Arial"/>
              </a:rPr>
              <a:t>AMI</a:t>
            </a:r>
          </a:p>
          <a:p xmlns:a="http://schemas.openxmlformats.org/drawingml/2006/main">
            <a: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7CB64"/>
                </a:solidFill>
                <a:latin typeface="Arial"/>
                <a:ea typeface="Arial"/>
                <a:cs typeface="Arial"/>
              </a:rPr>
              <a:t>SIP / RTP</a:t>
            </a:r>
          </a:p>
        </p:txBody>
      </p:sp>
      <p:sp>
        <p:nvSpPr>
          <p:cNvPr id="19" name="Asterisk: hostNetwork и одна реплика. HA открывает AMI-соединение">
            <a:extLst xmlns:a="http://schemas.openxmlformats.org/drawingml/2006/main">
              <a:ext uri="{FF2B5EF4-FFF2-40B4-BE49-F238E27FC236}">
                <a16:creationId xmlns:a16="http://schemas.microsoft.com/office/drawing/2014/main" id="{17E4B55B-6BB6-48C6-B664-4D57E4F2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Asterisk: hostNetwork и одна реплика. HA открывает AMI-соединение к PBX.</a:t>
            </a:r>
          </a:p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TFTP доступен только при provisioning. SIP, RTP и AMI остаются в LAN / VPN.</a:t>
            </a:r>
          </a:p>
        </p:txBody>
      </p:sp>
    </p:spTree>
    <p:extLst>
      <p:ext uri="{BB962C8B-B14F-4D97-AF65-F5344CB8AC3E}">
        <p14:creationId xmlns:p14="http://schemas.microsoft.com/office/powerpoint/2010/main" val="19203741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Сеть для сигнализации и голоса">
            <a:extLst xmlns:a="http://schemas.openxmlformats.org/drawingml/2006/main">
              <a:ext uri="{FF2B5EF4-FFF2-40B4-BE49-F238E27FC236}">
                <a16:creationId xmlns:a16="http://schemas.microsoft.com/office/drawing/2014/main" id="{868E3ABC-376A-4CBD-8006-E38B77B2E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Сеть для сигнализации и голоса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92743D5D-6004-4287-AEE0-F0B2FA80E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5060">
            <a:extLst xmlns:a="http://schemas.openxmlformats.org/drawingml/2006/main">
              <a:ext uri="{FF2B5EF4-FFF2-40B4-BE49-F238E27FC236}">
                <a16:creationId xmlns:a16="http://schemas.microsoft.com/office/drawing/2014/main" id="{4E8F08E6-EA6C-4D89-A674-60C7EA3E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1925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75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5060</a:t>
            </a:r>
          </a:p>
        </p:txBody>
      </p:sp>
      <p:sp>
        <p:nvSpPr>
          <p:cNvPr id="4" name="TCP / UDP">
            <a:extLst xmlns:a="http://schemas.openxmlformats.org/drawingml/2006/main">
              <a:ext uri="{FF2B5EF4-FFF2-40B4-BE49-F238E27FC236}">
                <a16:creationId xmlns:a16="http://schemas.microsoft.com/office/drawing/2014/main" id="{0E6A24A1-D186-4EB0-8459-ACFE293E2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685925"/>
            <a:ext cx="2143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TCP / UDP</a:t>
            </a:r>
          </a:p>
        </p:txBody>
      </p:sp>
      <p:sp>
        <p:nvSpPr>
          <p:cNvPr id="5" name="SIP: Cisco TCP, HA UDP">
            <a:extLst xmlns:a="http://schemas.openxmlformats.org/drawingml/2006/main">
              <a:ext uri="{FF2B5EF4-FFF2-40B4-BE49-F238E27FC236}">
                <a16:creationId xmlns:a16="http://schemas.microsoft.com/office/drawing/2014/main" id="{0E7BF4D0-D50D-4772-82E7-F3821DA3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859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SIP: Cisco TCP, HA UDP</a:t>
            </a:r>
          </a:p>
        </p:txBody>
      </p:sp>
      <p:sp>
        <p:nvSpPr>
          <p:cNvPr id="6" name="10000–10199">
            <a:extLst xmlns:a="http://schemas.openxmlformats.org/drawingml/2006/main">
              <a:ext uri="{FF2B5EF4-FFF2-40B4-BE49-F238E27FC236}">
                <a16:creationId xmlns:a16="http://schemas.microsoft.com/office/drawing/2014/main" id="{466FFEF7-4448-4C7F-BC5B-316939711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9080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75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10000–10199</a:t>
            </a:r>
          </a:p>
        </p:txBody>
      </p:sp>
      <p:sp>
        <p:nvSpPr>
          <p:cNvPr id="7" name="UDP на PBX">
            <a:extLst xmlns:a="http://schemas.openxmlformats.org/drawingml/2006/main">
              <a:ext uri="{FF2B5EF4-FFF2-40B4-BE49-F238E27FC236}">
                <a16:creationId xmlns:a16="http://schemas.microsoft.com/office/drawing/2014/main" id="{05FB8CC9-D19E-4450-B71B-685ED151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657475"/>
            <a:ext cx="2143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UDP на PBX</a:t>
            </a:r>
          </a:p>
        </p:txBody>
      </p:sp>
      <p:sp>
        <p:nvSpPr>
          <p:cNvPr id="8" name="RTP / голос">
            <a:extLst xmlns:a="http://schemas.openxmlformats.org/drawingml/2006/main">
              <a:ext uri="{FF2B5EF4-FFF2-40B4-BE49-F238E27FC236}">
                <a16:creationId xmlns:a16="http://schemas.microsoft.com/office/drawing/2014/main" id="{397E0A6A-D826-47D3-9FBA-DCDDD6B1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574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RTP / голос</a:t>
            </a:r>
          </a:p>
        </p:txBody>
      </p:sp>
      <p:sp>
        <p:nvSpPr>
          <p:cNvPr id="9" name="5038">
            <a:extLst xmlns:a="http://schemas.openxmlformats.org/drawingml/2006/main">
              <a:ext uri="{FF2B5EF4-FFF2-40B4-BE49-F238E27FC236}">
                <a16:creationId xmlns:a16="http://schemas.microsoft.com/office/drawing/2014/main" id="{80B6DA00-B72A-4699-B497-B9462AB44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6235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75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75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3075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5038</a:t>
            </a:r>
          </a:p>
        </p:txBody>
      </p:sp>
      <p:sp>
        <p:nvSpPr>
          <p:cNvPr id="10" name="TCP на PBX">
            <a:extLst xmlns:a="http://schemas.openxmlformats.org/drawingml/2006/main">
              <a:ext uri="{FF2B5EF4-FFF2-40B4-BE49-F238E27FC236}">
                <a16:creationId xmlns:a16="http://schemas.microsoft.com/office/drawing/2014/main" id="{A938738F-F617-4356-AFE2-62F8906E7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29025"/>
            <a:ext cx="2143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TCP на PBX</a:t>
            </a:r>
          </a:p>
        </p:txBody>
      </p:sp>
      <p:sp>
        <p:nvSpPr>
          <p:cNvPr id="11" name="AMI, только HA IP /32">
            <a:extLst xmlns:a="http://schemas.openxmlformats.org/drawingml/2006/main">
              <a:ext uri="{FF2B5EF4-FFF2-40B4-BE49-F238E27FC236}">
                <a16:creationId xmlns:a16="http://schemas.microsoft.com/office/drawing/2014/main" id="{A5593897-2C09-4222-B3FB-929EB1A52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290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AMI, только HA IP /32</a:t>
            </a:r>
          </a:p>
        </p:txBody>
      </p:sp>
      <p:sp>
        <p:nvSpPr>
          <p:cNvPr id="12" name="69 + 20000–20031">
            <a:extLst xmlns:a="http://schemas.openxmlformats.org/drawingml/2006/main">
              <a:ext uri="{FF2B5EF4-FFF2-40B4-BE49-F238E27FC236}">
                <a16:creationId xmlns:a16="http://schemas.microsoft.com/office/drawing/2014/main" id="{58A7F9A8-4494-47D7-A057-77822FFCB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3390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69 + 20000–20031</a:t>
            </a:r>
          </a:p>
        </p:txBody>
      </p:sp>
      <p:sp>
        <p:nvSpPr>
          <p:cNvPr id="13" name="UDP на PBX">
            <a:extLst xmlns:a="http://schemas.openxmlformats.org/drawingml/2006/main">
              <a:ext uri="{FF2B5EF4-FFF2-40B4-BE49-F238E27FC236}">
                <a16:creationId xmlns:a16="http://schemas.microsoft.com/office/drawing/2014/main" id="{F7C93562-0590-4060-BF4E-9544E497C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600575"/>
            <a:ext cx="2143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UDP на PBX</a:t>
            </a:r>
          </a:p>
        </p:txBody>
      </p:sp>
      <p:sp>
        <p:nvSpPr>
          <p:cNvPr id="14" name="TFTP / временно">
            <a:extLst xmlns:a="http://schemas.openxmlformats.org/drawingml/2006/main">
              <a:ext uri="{FF2B5EF4-FFF2-40B4-BE49-F238E27FC236}">
                <a16:creationId xmlns:a16="http://schemas.microsoft.com/office/drawing/2014/main" id="{BB5D5DCF-800D-4F1C-BFD3-1780FD618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6005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TFTP / временно</a:t>
            </a:r>
          </a:p>
        </p:txBody>
      </p:sp>
      <p:sp>
        <p:nvSpPr>
          <p:cNvPr id="15" name="На HA RTP / RTCP динамические. Разрешения firewall ограничивают н">
            <a:extLst xmlns:a="http://schemas.openxmlformats.org/drawingml/2006/main">
              <a:ext uri="{FF2B5EF4-FFF2-40B4-BE49-F238E27FC236}">
                <a16:creationId xmlns:a16="http://schemas.microsoft.com/office/drawing/2014/main" id="{F3951CA2-8331-4C39-8843-8AB119568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На HA RTP / RTCP динамические. Разрешения firewall ограничивают нужными IP.</a:t>
            </a:r>
          </a:p>
        </p:txBody>
      </p:sp>
    </p:spTree>
    <p:extLst>
      <p:ext uri="{BB962C8B-B14F-4D97-AF65-F5344CB8AC3E}">
        <p14:creationId xmlns:p14="http://schemas.microsoft.com/office/powerpoint/2010/main" val="66718858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B2EA67-464F-44D1-81FC-D410E488D77E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7296150" y="4598194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2B716C-C7A8-41E4-AA3D-574AD8353E55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695700" y="4598194"/>
            <a:ext cx="1028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7CB64"/>
            </a:solidFill>
            <a:tailEnd type="triangle" w="sm" len="sm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29BF5-21E4-47F3-A266-1A14CE4137C3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695700" y="2433638"/>
            <a:ext cx="46291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sp>
        <p:nvSpPr>
          <p:cNvPr id="15" name="7945G поддерживает PoE без переделки">
            <a:extLst xmlns:a="http://schemas.openxmlformats.org/drawingml/2006/main">
              <a:ext uri="{FF2B5EF4-FFF2-40B4-BE49-F238E27FC236}">
                <a16:creationId xmlns:a16="http://schemas.microsoft.com/office/drawing/2014/main" id="{6393AEA3-C2E6-46F1-BDA3-479EDA4FF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7945G поддерживает PoE без переделки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59BC1DA5-F956-4EF8-8BD7-9D1C5C309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poe">
            <a:extLst xmlns:a="http://schemas.openxmlformats.org/drawingml/2006/main">
              <a:ext uri="{FF2B5EF4-FFF2-40B4-BE49-F238E27FC236}">
                <a16:creationId xmlns:a16="http://schemas.microsoft.com/office/drawing/2014/main" id="{68796E8D-C90A-47E2-B837-74C7DF9C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19288"/>
            <a:ext cx="2571750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PoE-коммутатор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IEEE 802.3af</a:t>
            </a:r>
          </a:p>
        </p:txBody>
      </p:sp>
      <p:sp>
        <p:nvSpPr>
          <p:cNvPr id="4" name="phone1">
            <a:extLst xmlns:a="http://schemas.openxmlformats.org/drawingml/2006/main">
              <a:ext uri="{FF2B5EF4-FFF2-40B4-BE49-F238E27FC236}">
                <a16:creationId xmlns:a16="http://schemas.microsoft.com/office/drawing/2014/main" id="{9E6A82C1-6E5F-48A6-B0DA-9CCC90066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19288"/>
            <a:ext cx="265747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Cisco 7945G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порт SW / Network</a:t>
            </a:r>
          </a:p>
        </p:txBody>
      </p:sp>
      <p:sp>
        <p:nvSpPr>
          <p:cNvPr id="5" name="lan">
            <a:extLst xmlns:a="http://schemas.openxmlformats.org/drawingml/2006/main">
              <a:ext uri="{FF2B5EF4-FFF2-40B4-BE49-F238E27FC236}">
                <a16:creationId xmlns:a16="http://schemas.microsoft.com/office/drawing/2014/main" id="{CBC4F08D-10EA-42C6-9AA2-4C696EC85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05275"/>
            <a:ext cx="2571750" cy="985838"/>
          </a:xfrm>
          <a:prstGeom xmlns:a="http://schemas.openxmlformats.org/drawingml/2006/main" prst="roundRect">
            <a:avLst>
              <a:gd name="adj" fmla="val 9662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7CB64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Обычный коммутатор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Ethernet</a:t>
            </a:r>
          </a:p>
        </p:txBody>
      </p:sp>
      <p:sp>
        <p:nvSpPr>
          <p:cNvPr id="6" name="injector">
            <a:extLst xmlns:a="http://schemas.openxmlformats.org/drawingml/2006/main">
              <a:ext uri="{FF2B5EF4-FFF2-40B4-BE49-F238E27FC236}">
                <a16:creationId xmlns:a16="http://schemas.microsoft.com/office/drawing/2014/main" id="{41A2B733-D936-4980-BF21-0C71A5BFA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105275"/>
            <a:ext cx="2571750" cy="985838"/>
          </a:xfrm>
          <a:prstGeom xmlns:a="http://schemas.openxmlformats.org/drawingml/2006/main" prst="roundRect">
            <a:avLst>
              <a:gd name="adj" fmla="val 9662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F836D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Активный инжектор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IEEE 802.3af</a:t>
            </a:r>
          </a:p>
        </p:txBody>
      </p:sp>
      <p:sp>
        <p:nvSpPr>
          <p:cNvPr id="7" name="phone2">
            <a:extLst xmlns:a="http://schemas.openxmlformats.org/drawingml/2006/main">
              <a:ext uri="{FF2B5EF4-FFF2-40B4-BE49-F238E27FC236}">
                <a16:creationId xmlns:a16="http://schemas.microsoft.com/office/drawing/2014/main" id="{BD4791D3-8074-483E-846B-F0C7B6D29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105275"/>
            <a:ext cx="2657475" cy="985838"/>
          </a:xfrm>
          <a:prstGeom xmlns:a="http://schemas.openxmlformats.org/drawingml/2006/main" prst="roundRect">
            <a:avLst>
              <a:gd name="adj" fmla="val 9662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Cisco 7945G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порт SW / Network</a:t>
            </a:r>
          </a:p>
        </p:txBody>
      </p:sp>
      <p:sp>
        <p:nvSpPr>
          <p:cNvPr id="9" name="данные + питание">
            <a:extLst xmlns:a="http://schemas.openxmlformats.org/drawingml/2006/main">
              <a:ext uri="{FF2B5EF4-FFF2-40B4-BE49-F238E27FC236}">
                <a16:creationId xmlns:a16="http://schemas.microsoft.com/office/drawing/2014/main" id="{C0F6E715-8F81-47BB-BD54-4710823F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086928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DDCC"/>
                </a:solidFill>
                <a:latin typeface="Arial"/>
                <a:ea typeface="Arial"/>
                <a:cs typeface="Arial"/>
              </a:rPr>
              <a:t>данные + питание</a:t>
            </a:r>
          </a:p>
        </p:txBody>
      </p:sp>
      <p:sp>
        <p:nvSpPr>
          <p:cNvPr id="11" name="данные">
            <a:extLst xmlns:a="http://schemas.openxmlformats.org/drawingml/2006/main">
              <a:ext uri="{FF2B5EF4-FFF2-40B4-BE49-F238E27FC236}">
                <a16:creationId xmlns:a16="http://schemas.microsoft.com/office/drawing/2014/main" id="{1774B50D-C73B-465C-A192-1260BE24A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4251484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7CB64"/>
                </a:solidFill>
                <a:latin typeface="Arial"/>
                <a:ea typeface="Arial"/>
                <a:cs typeface="Arial"/>
              </a:rPr>
              <a:t>данные</a:t>
            </a:r>
          </a:p>
        </p:txBody>
      </p:sp>
      <p:sp>
        <p:nvSpPr>
          <p:cNvPr id="13" name="PoE">
            <a:extLst xmlns:a="http://schemas.openxmlformats.org/drawingml/2006/main">
              <a:ext uri="{FF2B5EF4-FFF2-40B4-BE49-F238E27FC236}">
                <a16:creationId xmlns:a16="http://schemas.microsoft.com/office/drawing/2014/main" id="{281583AE-9368-4B96-AC86-274D722A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5625" y="4251484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DDCC"/>
                </a:solidFill>
                <a:latin typeface="Arial"/>
                <a:ea typeface="Arial"/>
                <a:cs typeface="Arial"/>
              </a:rPr>
              <a:t>PoE</a:t>
            </a:r>
          </a:p>
        </p:txBody>
      </p:sp>
      <p:sp>
        <p:nvSpPr>
          <p:cNvPr id="14" name="Пассивный 24 V инжектор не подходит. UPS питает также PoE-коммута">
            <a:extLst xmlns:a="http://schemas.openxmlformats.org/drawingml/2006/main">
              <a:ext uri="{FF2B5EF4-FFF2-40B4-BE49-F238E27FC236}">
                <a16:creationId xmlns:a16="http://schemas.microsoft.com/office/drawing/2014/main" id="{6F3A9C63-2777-4798-9ECE-3AA09E3C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Пассивный 24 V инжектор не подходит. UPS питает также PoE-коммутатор, маршрутизатор и k3s-узел.</a:t>
            </a:r>
          </a:p>
        </p:txBody>
      </p:sp>
    </p:spTree>
    <p:extLst>
      <p:ext uri="{BB962C8B-B14F-4D97-AF65-F5344CB8AC3E}">
        <p14:creationId xmlns:p14="http://schemas.microsoft.com/office/powerpoint/2010/main" val="14927488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5B94F8-AEEF-4675-BD35-87FB6BBE5371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3481388" y="4533900"/>
            <a:ext cx="1243012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7CB64"/>
            </a:solidFill>
            <a:tailEnd type="triangle" w="sm" len="sm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0BDF9F-5F8E-4518-99D4-957EADA997CC}"/>
              </a:ext>
            </a:extLst>
          </p:cNvPr>
          <p:cNvCxnSpPr>
            <a:stCxn xmlns:a="http://schemas.openxmlformats.org/drawingml/2006/main" id="6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7210425" y="4533900"/>
            <a:ext cx="1243013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F070AC-2D72-4963-BF45-BFB68C9DF2E5}"/>
              </a:ext>
            </a:extLst>
          </p:cNvPr>
          <p:cNvCxnSpPr>
            <a:stCxn xmlns:a="http://schemas.openxmlformats.org/drawingml/2006/main" id="5" idx="2"/>
            <a:endCxn xmlns:a="http://schemas.openxmlformats.org/drawingml/2006/main" id="6" idx="0"/>
          </p:cNvCxnSpPr>
          <p:nvPr/>
        </p:nvCxnSpPr>
        <p:spPr>
          <a:xfrm xmlns:a="http://schemas.openxmlformats.org/drawingml/2006/main">
            <a:off x="9696451" y="3033713"/>
            <a:ext cx="0" cy="985837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E91867-322D-4F2B-982D-D4A52E00EEAA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210425" y="2519363"/>
            <a:ext cx="1243013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C98A0E-0B62-4D92-905B-9B4E029ADD4A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481388" y="2519363"/>
            <a:ext cx="1243012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tailEnd type="triangle" w="sm" len="sm"/>
          </a:ln>
        </p:spPr>
      </p:cxnSp>
      <p:sp>
        <p:nvSpPr>
          <p:cNvPr id="15" name="Один телефон до всей партии">
            <a:extLst xmlns:a="http://schemas.openxmlformats.org/drawingml/2006/main">
              <a:ext uri="{FF2B5EF4-FFF2-40B4-BE49-F238E27FC236}">
                <a16:creationId xmlns:a16="http://schemas.microsoft.com/office/drawing/2014/main" id="{89B6EBF7-FE8B-4445-A6A8-72A0F6B70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Один телефон до всей партии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25BE4B72-1415-4CDA-BC28-F8E822F8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inventory">
            <a:extLst xmlns:a="http://schemas.openxmlformats.org/drawingml/2006/main">
              <a:ext uri="{FF2B5EF4-FFF2-40B4-BE49-F238E27FC236}">
                <a16:creationId xmlns:a16="http://schemas.microsoft.com/office/drawing/2014/main" id="{99D100F6-1A73-4B86-9965-9B4DB14B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3" y="2005013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7CB64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Инвентарь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PID / HW / Load</a:t>
            </a:r>
          </a:p>
        </p:txBody>
      </p:sp>
      <p:sp>
        <p:nvSpPr>
          <p:cNvPr id="4" name="firmware">
            <a:extLst xmlns:a="http://schemas.openxmlformats.org/drawingml/2006/main">
              <a:ext uri="{FF2B5EF4-FFF2-40B4-BE49-F238E27FC236}">
                <a16:creationId xmlns:a16="http://schemas.microsoft.com/office/drawing/2014/main" id="{71E1BFE0-8F9F-409B-9C7F-0E5E3350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005013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F836D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Цепочка версий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SCCP → SIP</a:t>
            </a:r>
          </a:p>
        </p:txBody>
      </p:sp>
      <p:sp>
        <p:nvSpPr>
          <p:cNvPr id="5" name="tftp">
            <a:extLst xmlns:a="http://schemas.openxmlformats.org/drawingml/2006/main">
              <a:ext uri="{FF2B5EF4-FFF2-40B4-BE49-F238E27FC236}">
                <a16:creationId xmlns:a16="http://schemas.microsoft.com/office/drawing/2014/main" id="{71125CE1-6727-46EC-8ABF-6C5FC2334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2005013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TFTP готов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пакет + SEP XML</a:t>
            </a:r>
          </a:p>
        </p:txBody>
      </p:sp>
      <p:sp>
        <p:nvSpPr>
          <p:cNvPr id="6" name="pilot">
            <a:extLst xmlns:a="http://schemas.openxmlformats.org/drawingml/2006/main">
              <a:ext uri="{FF2B5EF4-FFF2-40B4-BE49-F238E27FC236}">
                <a16:creationId xmlns:a16="http://schemas.microsoft.com/office/drawing/2014/main" id="{9AE7011E-EC37-45B4-94EC-2A651F8D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4019550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Один телефон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стабильное питание</a:t>
            </a:r>
          </a:p>
        </p:txBody>
      </p:sp>
      <p:sp>
        <p:nvSpPr>
          <p:cNvPr id="7" name="accept">
            <a:extLst xmlns:a="http://schemas.openxmlformats.org/drawingml/2006/main">
              <a:ext uri="{FF2B5EF4-FFF2-40B4-BE49-F238E27FC236}">
                <a16:creationId xmlns:a16="http://schemas.microsoft.com/office/drawing/2014/main" id="{C1D56AB3-F41D-4422-ACBC-074EFB82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019550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Тесты звонков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звук / DTMF / reboot</a:t>
            </a:r>
          </a:p>
        </p:txBody>
      </p:sp>
      <p:sp>
        <p:nvSpPr>
          <p:cNvPr id="8" name="fleet">
            <a:extLst xmlns:a="http://schemas.openxmlformats.org/drawingml/2006/main">
              <a:ext uri="{FF2B5EF4-FFF2-40B4-BE49-F238E27FC236}">
                <a16:creationId xmlns:a16="http://schemas.microsoft.com/office/drawing/2014/main" id="{B8770CD3-FBBB-47CC-8DA2-37B66BA7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3" y="4019550"/>
            <a:ext cx="2486025" cy="1028700"/>
          </a:xfrm>
          <a:prstGeom xmlns:a="http://schemas.openxmlformats.org/drawingml/2006/main" prst="roundRect">
            <a:avLst>
              <a:gd name="adj" fmla="val 9259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7CB64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Вся партия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по одному</a:t>
            </a:r>
          </a:p>
        </p:txBody>
      </p:sp>
      <p:sp>
        <p:nvSpPr>
          <p:cNvPr id="14" name="HW 13.0+: минимум 9.3(1)SR3. Цепочка обновления зависит от текуще">
            <a:extLst xmlns:a="http://schemas.openxmlformats.org/drawingml/2006/main">
              <a:ext uri="{FF2B5EF4-FFF2-40B4-BE49-F238E27FC236}">
                <a16:creationId xmlns:a16="http://schemas.microsoft.com/office/drawing/2014/main" id="{D22A684B-229F-4E39-ACCC-9BF42F90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HW 13.0+: минимум 9.3(1)SR3. Цепочка обновления зависит от текущей версии.</a:t>
            </a:r>
          </a:p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До сброса готовы TFTP и recovery-план. Питание при записи flash не прерывать.</a:t>
            </a:r>
          </a:p>
        </p:txBody>
      </p:sp>
    </p:spTree>
    <p:extLst>
      <p:ext uri="{BB962C8B-B14F-4D97-AF65-F5344CB8AC3E}">
        <p14:creationId xmlns:p14="http://schemas.microsoft.com/office/powerpoint/2010/main" val="134040073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FTP до первого перезапуска">
            <a:extLst xmlns:a="http://schemas.openxmlformats.org/drawingml/2006/main">
              <a:ext uri="{FF2B5EF4-FFF2-40B4-BE49-F238E27FC236}">
                <a16:creationId xmlns:a16="http://schemas.microsoft.com/office/drawing/2014/main" id="{3D5DF232-3BF3-48A5-B2A7-921BD06E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TFTP до первого перезапуска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335AAA56-B476-47F7-86AA-9ECF762B8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Полный официальный пакет">
            <a:extLst xmlns:a="http://schemas.openxmlformats.org/drawingml/2006/main">
              <a:ext uri="{FF2B5EF4-FFF2-40B4-BE49-F238E27FC236}">
                <a16:creationId xmlns:a16="http://schemas.microsoft.com/office/drawing/2014/main" id="{96487268-C2EC-4117-9F67-513F7F97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Полный официальный пакет</a:t>
            </a:r>
          </a:p>
        </p:txBody>
      </p:sp>
      <p:sp>
        <p:nvSpPr>
          <p:cNvPr id="4" name=".loads и все связанные бинарные файлы&#10;с оригинальными именами и р">
            <a:extLst xmlns:a="http://schemas.openxmlformats.org/drawingml/2006/main">
              <a:ext uri="{FF2B5EF4-FFF2-40B4-BE49-F238E27FC236}">
                <a16:creationId xmlns:a16="http://schemas.microsoft.com/office/drawing/2014/main" id="{BC881BE5-552E-4E9A-B29E-8EE59393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33625"/>
            <a:ext cx="10477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.loads и все связанные бинарные файлы</a:t>
            </a:r>
          </a:p>
          <a:p xmlns:a="http://schemas.openxmlformats.org/drawingml/2006/main">
            <a:pPr algn="l">
              <a:defRPr sz="225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с оригинальными именами и регистром</a:t>
            </a:r>
          </a:p>
        </p:txBody>
      </p:sp>
      <p:sp>
        <p:nvSpPr>
          <p:cNvPr id="5" name="SEP&lt;MAC&gt;.cnf.xml">
            <a:extLst xmlns:a="http://schemas.openxmlformats.org/drawingml/2006/main">
              <a:ext uri="{FF2B5EF4-FFF2-40B4-BE49-F238E27FC236}">
                <a16:creationId xmlns:a16="http://schemas.microsoft.com/office/drawing/2014/main" id="{BA82B9E0-6482-458A-A4D7-853107BA6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10477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SEP&lt;MAC&gt;.cnf.xml</a:t>
            </a:r>
          </a:p>
        </p:txBody>
      </p:sp>
      <p:sp>
        <p:nvSpPr>
          <p:cNvPr id="6" name="SIP-сервер, внутренний номер и отдельный пароль&#10;Load ID только дл">
            <a:extLst xmlns:a="http://schemas.openxmlformats.org/drawingml/2006/main">
              <a:ext uri="{FF2B5EF4-FFF2-40B4-BE49-F238E27FC236}">
                <a16:creationId xmlns:a16="http://schemas.microsoft.com/office/drawing/2014/main" id="{9F132D07-984C-48E2-9DF0-6C38A7FF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24350"/>
            <a:ext cx="1047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SIP-сервер, внутренний номер и отдельный пароль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Load ID только для выбранной ветки 7945_7965</a:t>
            </a:r>
          </a:p>
        </p:txBody>
      </p:sp>
      <p:sp>
        <p:nvSpPr>
          <p:cNvPr id="7" name="DHCP option 150 на домашнем маршрутизаторе или Alternate TFTP на ">
            <a:extLst xmlns:a="http://schemas.openxmlformats.org/drawingml/2006/main">
              <a:ext uri="{FF2B5EF4-FFF2-40B4-BE49-F238E27FC236}">
                <a16:creationId xmlns:a16="http://schemas.microsoft.com/office/drawing/2014/main" id="{B8E97584-171C-4660-8B29-4544520E1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DHCP option 150 на домашнем маршрутизаторе или Alternate TFTP на телефоне.</a:t>
            </a:r>
          </a:p>
        </p:txBody>
      </p:sp>
    </p:spTree>
    <p:extLst>
      <p:ext uri="{BB962C8B-B14F-4D97-AF65-F5344CB8AC3E}">
        <p14:creationId xmlns:p14="http://schemas.microsoft.com/office/powerpoint/2010/main" val="13090828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Asterisk: свой номер для каждого телефона">
            <a:extLst xmlns:a="http://schemas.openxmlformats.org/drawingml/2006/main">
              <a:ext uri="{FF2B5EF4-FFF2-40B4-BE49-F238E27FC236}">
                <a16:creationId xmlns:a16="http://schemas.microsoft.com/office/drawing/2014/main" id="{399A4333-AF2E-4A9E-A0E9-10398EC93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Asterisk: свой номер для каждого телефона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FC53A6BC-47B4-44CA-A16B-3B3A2C4C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201">
            <a:extLst xmlns:a="http://schemas.openxmlformats.org/drawingml/2006/main">
              <a:ext uri="{FF2B5EF4-FFF2-40B4-BE49-F238E27FC236}">
                <a16:creationId xmlns:a16="http://schemas.microsoft.com/office/drawing/2014/main" id="{C8AAA91A-7E0F-46E9-89A6-928AC973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5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201</a:t>
            </a:r>
          </a:p>
        </p:txBody>
      </p:sp>
      <p:sp>
        <p:nvSpPr>
          <p:cNvPr id="4" name="202">
            <a:extLst xmlns:a="http://schemas.openxmlformats.org/drawingml/2006/main">
              <a:ext uri="{FF2B5EF4-FFF2-40B4-BE49-F238E27FC236}">
                <a16:creationId xmlns:a16="http://schemas.microsoft.com/office/drawing/2014/main" id="{E3F52FAD-8ED6-44DF-AAAA-2E71E9238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57375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5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202</a:t>
            </a:r>
          </a:p>
        </p:txBody>
      </p:sp>
      <p:sp>
        <p:nvSpPr>
          <p:cNvPr id="5" name="…210">
            <a:extLst xmlns:a="http://schemas.openxmlformats.org/drawingml/2006/main">
              <a:ext uri="{FF2B5EF4-FFF2-40B4-BE49-F238E27FC236}">
                <a16:creationId xmlns:a16="http://schemas.microsoft.com/office/drawing/2014/main" id="{57403F65-9B4B-4AF2-88D7-5B65835E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57375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55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555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…210</a:t>
            </a:r>
          </a:p>
        </p:txBody>
      </p:sp>
      <p:sp>
        <p:nvSpPr>
          <p:cNvPr id="6" name="TCP, отдельные endpoint, auth и AOR&#10;Уникальный пароль на каждом а">
            <a:extLst xmlns:a="http://schemas.openxmlformats.org/drawingml/2006/main">
              <a:ext uri="{FF2B5EF4-FFF2-40B4-BE49-F238E27FC236}">
                <a16:creationId xmlns:a16="http://schemas.microsoft.com/office/drawing/2014/main" id="{DD4B9F1D-20D6-4B50-9DDE-5E41595F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8137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TCP, отдельные endpoint, auth и AOR</a:t>
            </a:r>
          </a:p>
          <a:p xmlns:a="http://schemas.openxmlformats.org/drawingml/2006/main">
            <a:pPr algn="l">
              <a:defRPr sz="23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3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Уникальный пароль на каждом аппарате</a:t>
            </a:r>
          </a:p>
        </p:txBody>
      </p:sp>
      <p:sp>
        <p:nvSpPr>
          <p:cNvPr id="7" name="G.711 ulaw / alaw&#10;direct_media=no для RTP через Asterisk">
            <a:extLst xmlns:a="http://schemas.openxmlformats.org/drawingml/2006/main">
              <a:ext uri="{FF2B5EF4-FFF2-40B4-BE49-F238E27FC236}">
                <a16:creationId xmlns:a16="http://schemas.microsoft.com/office/drawing/2014/main" id="{566701BD-D729-4F05-BC27-1B4F892C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1487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G.711 ulaw / alaw</a:t>
            </a:r>
          </a:p>
          <a:p xmlns:a="http://schemas.openxmlformats.org/drawingml/2006/main">
            <a:pPr algn="l">
              <a:defRPr sz="21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direct_media=no для RTP через Asterisk</a:t>
            </a:r>
          </a:p>
        </p:txBody>
      </p:sp>
      <p:sp>
        <p:nvSpPr>
          <p:cNvPr id="8" name="600 echo, 601 tone, 620 группа. Номер 630 доступен при включённом">
            <a:extLst xmlns:a="http://schemas.openxmlformats.org/drawingml/2006/main">
              <a:ext uri="{FF2B5EF4-FFF2-40B4-BE49-F238E27FC236}">
                <a16:creationId xmlns:a16="http://schemas.microsoft.com/office/drawing/2014/main" id="{D42261DB-0930-492D-9DF4-78FF1208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600 echo, 601 tone, 620 группа. Номер 630 доступен при включённом Assist.</a:t>
            </a:r>
          </a:p>
        </p:txBody>
      </p:sp>
    </p:spTree>
    <p:extLst>
      <p:ext uri="{BB962C8B-B14F-4D97-AF65-F5344CB8AC3E}">
        <p14:creationId xmlns:p14="http://schemas.microsoft.com/office/powerpoint/2010/main" val="2228390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MI: состояния и управление вызовами">
            <a:extLst xmlns:a="http://schemas.openxmlformats.org/drawingml/2006/main">
              <a:ext uri="{FF2B5EF4-FFF2-40B4-BE49-F238E27FC236}">
                <a16:creationId xmlns:a16="http://schemas.microsoft.com/office/drawing/2014/main" id="{CF06706C-B747-4232-B994-5D89093F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AMI: состояния и управление вызовами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6A5D5AD7-5AC5-4074-BC8D-E7A5A3938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Home Assistant подключается к PBX:5038">
            <a:extLst xmlns:a="http://schemas.openxmlformats.org/drawingml/2006/main">
              <a:ext uri="{FF2B5EF4-FFF2-40B4-BE49-F238E27FC236}">
                <a16:creationId xmlns:a16="http://schemas.microsoft.com/office/drawing/2014/main" id="{18602007-92C7-4B57-A401-AE3D9F0E1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Home Assistant подключается к PBX:5038</a:t>
            </a:r>
          </a:p>
        </p:txBody>
      </p:sp>
      <p:sp>
        <p:nvSpPr>
          <p:cNvPr id="4" name="Статус, связанная линия и DTMF&#10;Фактические entity IDs из вашего H">
            <a:extLst xmlns:a="http://schemas.openxmlformats.org/drawingml/2006/main">
              <a:ext uri="{FF2B5EF4-FFF2-40B4-BE49-F238E27FC236}">
                <a16:creationId xmlns:a16="http://schemas.microsoft.com/office/drawing/2014/main" id="{8D890262-2444-4469-AEA3-F55C26AB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Статус, связанная линия и DTMF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Фактические entity IDs из вашего HA</a:t>
            </a:r>
          </a:p>
        </p:txBody>
      </p:sp>
      <p:sp>
        <p:nvSpPr>
          <p:cNvPr id="5" name="Вызов и завершение конкретного канала">
            <a:extLst xmlns:a="http://schemas.openxmlformats.org/drawingml/2006/main">
              <a:ext uri="{FF2B5EF4-FFF2-40B4-BE49-F238E27FC236}">
                <a16:creationId xmlns:a16="http://schemas.microsoft.com/office/drawing/2014/main" id="{31D35E07-D1DC-49B1-9596-5B2497AB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6712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2475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Вызов и завершение конкретного канала</a:t>
            </a:r>
          </a:p>
        </p:txBody>
      </p:sp>
      <p:sp>
        <p:nvSpPr>
          <p:cNvPr id="6" name="asterisk.send_action: Originate / Hangup&#10;DTMF-пример отправляет б">
            <a:extLst xmlns:a="http://schemas.openxmlformats.org/drawingml/2006/main">
              <a:ext uri="{FF2B5EF4-FFF2-40B4-BE49-F238E27FC236}">
                <a16:creationId xmlns:a16="http://schemas.microsoft.com/office/drawing/2014/main" id="{231F3FFD-A781-4C99-9884-51B298CE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95775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asterisk.send_action: Originate / Hangup</a:t>
            </a:r>
          </a:p>
          <a:p xmlns:a="http://schemas.openxmlformats.org/drawingml/2006/main">
            <a:pPr algn="l">
              <a:defRPr sz="210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DTMF-пример отправляет безопасное уведомление</a:t>
            </a:r>
          </a:p>
        </p:txBody>
      </p:sp>
      <p:sp>
        <p:nvSpPr>
          <p:cNvPr id="7" name="Отдельный секрет и ACL /32. Право system даёт административные де">
            <a:extLst xmlns:a="http://schemas.openxmlformats.org/drawingml/2006/main">
              <a:ext uri="{FF2B5EF4-FFF2-40B4-BE49-F238E27FC236}">
                <a16:creationId xmlns:a16="http://schemas.microsoft.com/office/drawing/2014/main" id="{FBAA98DE-6526-44EE-AA51-3052271B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Отдельный секрет и ACL /32. Право system даёт административные действия.</a:t>
            </a:r>
          </a:p>
        </p:txBody>
      </p:sp>
    </p:spTree>
    <p:extLst>
      <p:ext uri="{BB962C8B-B14F-4D97-AF65-F5344CB8AC3E}">
        <p14:creationId xmlns:p14="http://schemas.microsoft.com/office/powerpoint/2010/main" val="4543487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46F9D2-E5ED-4210-86FD-87F4FF1E6272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424738" y="2733675"/>
            <a:ext cx="1328737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7CB64"/>
            </a:solidFill>
            <a:headEnd type="triangle" w="sm" len="sm"/>
            <a:tailEnd type="triangle" w="sm" len="sm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8905F5-EE1A-4D95-90E9-75EC4B3B23CC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395663" y="2733675"/>
            <a:ext cx="1328737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48DDCC"/>
            </a:solidFill>
            <a:headEnd type="triangle" w="sm" len="sm"/>
            <a:tailEnd type="triangle" w="sm" len="sm"/>
          </a:ln>
        </p:spPr>
      </p:cxnSp>
      <p:sp>
        <p:nvSpPr>
          <p:cNvPr id="12" name="630: голосовой помощник в телефоне">
            <a:extLst xmlns:a="http://schemas.openxmlformats.org/drawingml/2006/main">
              <a:ext uri="{FF2B5EF4-FFF2-40B4-BE49-F238E27FC236}">
                <a16:creationId xmlns:a16="http://schemas.microsoft.com/office/drawing/2014/main" id="{232AFEA3-41D4-434C-B221-4AFDDE2D8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630: голосовой помощник в телефоне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062E5262-DCC1-4F0E-84EB-EEAE0E4B2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cisco">
            <a:extLst xmlns:a="http://schemas.openxmlformats.org/drawingml/2006/main">
              <a:ext uri="{FF2B5EF4-FFF2-40B4-BE49-F238E27FC236}">
                <a16:creationId xmlns:a16="http://schemas.microsoft.com/office/drawing/2014/main" id="{DBB3082C-FB87-4CD9-9A4C-161CC3505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3" y="2133600"/>
            <a:ext cx="240030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48DDCC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Cisco 7945G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номер 201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G.711</a:t>
            </a:r>
          </a:p>
        </p:txBody>
      </p:sp>
      <p:sp>
        <p:nvSpPr>
          <p:cNvPr id="4" name="codec">
            <a:extLst xmlns:a="http://schemas.openxmlformats.org/drawingml/2006/main">
              <a:ext uri="{FF2B5EF4-FFF2-40B4-BE49-F238E27FC236}">
                <a16:creationId xmlns:a16="http://schemas.microsoft.com/office/drawing/2014/main" id="{13645114-DBE0-4B02-A87E-CFD83229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33600"/>
            <a:ext cx="2700338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F836D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Asterisk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G.711 ↔ Opus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номер 630</a:t>
            </a:r>
          </a:p>
        </p:txBody>
      </p:sp>
      <p:sp>
        <p:nvSpPr>
          <p:cNvPr id="5" name="assist">
            <a:extLst xmlns:a="http://schemas.openxmlformats.org/drawingml/2006/main">
              <a:ext uri="{FF2B5EF4-FFF2-40B4-BE49-F238E27FC236}">
                <a16:creationId xmlns:a16="http://schemas.microsoft.com/office/drawing/2014/main" id="{A22000A4-C9D1-45A2-872D-50AE0543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133600"/>
            <a:ext cx="2443163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172841"/>
          </a:solidFill>
          <a:ln xmlns:a="http://schemas.openxmlformats.org/drawingml/2006/main" w="19050">
            <a:solidFill>
              <a:srgbClr val="F7CB64"/>
            </a:solidFill>
          </a:ln>
        </p:spPr>
        <p:txBody>
          <a:bodyPr xmlns:a="http://schemas.openxmlformats.org/drawingml/2006/main" lIns="76200" tIns="76200" rIns="76200" bIns="76200" anchor="ctr">
            <a:noAutofit/>
          </a:bodyPr>
          <a:lstStyle xmlns:a="http://schemas.openxmlformats.org/drawingml/2006/main">
            <a:def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Home Assistant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VoIP / Assist</a:t>
            </a:r>
          </a:p>
          <a:p xmlns:a="http://schemas.openxmlformats.org/drawingml/2006/main">
            <a:pPr algn="ctr">
              <a:defRPr sz="162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62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Opus</a:t>
            </a:r>
          </a:p>
        </p:txBody>
      </p:sp>
      <p:sp>
        <p:nvSpPr>
          <p:cNvPr id="7" name="SIP TCP&#10;RTP">
            <a:extLst xmlns:a="http://schemas.openxmlformats.org/drawingml/2006/main">
              <a:ext uri="{FF2B5EF4-FFF2-40B4-BE49-F238E27FC236}">
                <a16:creationId xmlns:a16="http://schemas.microsoft.com/office/drawing/2014/main" id="{2E1A6438-4A64-46ED-AF4F-7F00E623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0870" y="166687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DDCC"/>
                </a:solidFill>
                <a:latin typeface="Arial"/>
                <a:ea typeface="Arial"/>
                <a:cs typeface="Arial"/>
              </a:rPr>
              <a:t>SIP TCP</a:t>
            </a:r>
          </a:p>
          <a:p xmlns:a="http://schemas.openxmlformats.org/drawingml/2006/main">
            <a:pPr algn="ctr">
              <a:defRPr sz="1350" b="0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8DDCC"/>
                </a:solidFill>
                <a:latin typeface="Arial"/>
                <a:ea typeface="Arial"/>
                <a:cs typeface="Arial"/>
              </a:rPr>
              <a:t>RTP</a:t>
            </a:r>
          </a:p>
        </p:txBody>
      </p:sp>
      <p:sp>
        <p:nvSpPr>
          <p:cNvPr id="9" name="SIP UDP&#10;RTP">
            <a:extLst xmlns:a="http://schemas.openxmlformats.org/drawingml/2006/main">
              <a:ext uri="{FF2B5EF4-FFF2-40B4-BE49-F238E27FC236}">
                <a16:creationId xmlns:a16="http://schemas.microsoft.com/office/drawing/2014/main" id="{3FD09714-1CFC-4A9F-B4C4-04A67293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8518" y="1666875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7CB64"/>
                </a:solidFill>
                <a:latin typeface="Arial"/>
                <a:ea typeface="Arial"/>
                <a:cs typeface="Arial"/>
              </a:rPr>
              <a:t>SIP UDP</a:t>
            </a:r>
          </a:p>
          <a:p xmlns:a="http://schemas.openxmlformats.org/drawingml/2006/main">
            <a:pPr algn="ctr">
              <a:defRPr sz="1350" b="0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7CB64"/>
                </a:solidFill>
                <a:latin typeface="Arial"/>
                <a:ea typeface="Arial"/>
                <a:cs typeface="Arial"/>
              </a:rPr>
              <a:t>RTP</a:t>
            </a:r>
          </a:p>
        </p:txBody>
      </p:sp>
      <p:sp>
        <p:nvSpPr>
          <p:cNvPr id="10" name="Первый вызов: Allow calls и выбор pipeline в HA.&#10;Затем проверка р">
            <a:extLst xmlns:a="http://schemas.openxmlformats.org/drawingml/2006/main">
              <a:ext uri="{FF2B5EF4-FFF2-40B4-BE49-F238E27FC236}">
                <a16:creationId xmlns:a16="http://schemas.microsoft.com/office/drawing/2014/main" id="{58536C40-BE11-41AB-863A-75EC7FDFC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3" y="4062413"/>
            <a:ext cx="10201275" cy="7286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9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9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89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Первый вызов: Allow calls и выбор pipeline в HA.</a:t>
            </a:r>
          </a:p>
          <a:p xmlns:a="http://schemas.openxmlformats.org/drawingml/2006/main">
            <a:pPr algn="l">
              <a:defRPr sz="1890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1890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Затем проверка распознавания, ответа TTS и завершения.</a:t>
            </a:r>
          </a:p>
        </p:txBody>
      </p:sp>
      <p:sp>
        <p:nvSpPr>
          <p:cNvPr id="11" name="SIP From сохраняет номер телефона. На HA RTP / RTCP используют ди">
            <a:extLst xmlns:a="http://schemas.openxmlformats.org/drawingml/2006/main">
              <a:ext uri="{FF2B5EF4-FFF2-40B4-BE49-F238E27FC236}">
                <a16:creationId xmlns:a16="http://schemas.microsoft.com/office/drawing/2014/main" id="{4C13B96A-6DA1-4054-AE53-C47C4933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SIP From сохраняет номер телефона. На HA RTP / RTCP используют динамические UDP-порты.</a:t>
            </a:r>
          </a:p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Настоящий разговор подтверждает пилот с телефоном, а не только readiness Pod.</a:t>
            </a:r>
          </a:p>
        </p:txBody>
      </p:sp>
    </p:spTree>
    <p:extLst>
      <p:ext uri="{BB962C8B-B14F-4D97-AF65-F5344CB8AC3E}">
        <p14:creationId xmlns:p14="http://schemas.microsoft.com/office/powerpoint/2010/main" val="125532332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Этапы развёртывания и подключения">
            <a:extLst xmlns:a="http://schemas.openxmlformats.org/drawingml/2006/main">
              <a:ext uri="{FF2B5EF4-FFF2-40B4-BE49-F238E27FC236}">
                <a16:creationId xmlns:a16="http://schemas.microsoft.com/office/drawing/2014/main" id="{964AF516-C944-4532-8105-F017A2087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Этапы развёртывания и подключения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9A01A84F-AE2F-4B27-92DD-4313D69F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60CBA6A8-51B8-4F56-8DAC-2F3AEC09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Bootstrap сервера">
            <a:extLst xmlns:a="http://schemas.openxmlformats.org/drawingml/2006/main">
              <a:ext uri="{FF2B5EF4-FFF2-40B4-BE49-F238E27FC236}">
                <a16:creationId xmlns:a16="http://schemas.microsoft.com/office/drawing/2014/main" id="{A651F27B-6752-4AD3-BBD5-779CFB96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157162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Bootstrap сервера</a:t>
            </a:r>
          </a:p>
        </p:txBody>
      </p:sp>
      <p:sp>
        <p:nvSpPr>
          <p:cNvPr id="5" name="Образы, постоянный IP, firewall, Asterisk и Opus">
            <a:extLst xmlns:a="http://schemas.openxmlformats.org/drawingml/2006/main">
              <a:ext uri="{FF2B5EF4-FFF2-40B4-BE49-F238E27FC236}">
                <a16:creationId xmlns:a16="http://schemas.microsoft.com/office/drawing/2014/main" id="{C6CFBAD9-1FF8-45C3-A4B9-7F18A038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38350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Образы, постоянный IP, firewall, Asterisk и Opus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5ADFFDE8-B0CF-4EA2-B100-0006A314A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890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Проверенный телефон">
            <a:extLst xmlns:a="http://schemas.openxmlformats.org/drawingml/2006/main">
              <a:ext uri="{FF2B5EF4-FFF2-40B4-BE49-F238E27FC236}">
                <a16:creationId xmlns:a16="http://schemas.microsoft.com/office/drawing/2014/main" id="{7388A5DE-21E4-4B48-9E33-A62F9A8F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62890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Проверенный телефон</a:t>
            </a:r>
          </a:p>
        </p:txBody>
      </p:sp>
      <p:sp>
        <p:nvSpPr>
          <p:cNvPr id="8" name="PID / HW / Load / MAC, SIP-профиль, временный TFTP">
            <a:extLst xmlns:a="http://schemas.openxmlformats.org/drawingml/2006/main">
              <a:ext uri="{FF2B5EF4-FFF2-40B4-BE49-F238E27FC236}">
                <a16:creationId xmlns:a16="http://schemas.microsoft.com/office/drawing/2014/main" id="{B2580173-DFC9-46E9-8ED4-E64D3FD3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09562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PID / HW / Load / MAC, SIP-профиль, временный TFTP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D67DF91C-5029-4B63-92AD-1E640298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0" name="Подключение Home Assistant">
            <a:extLst xmlns:a="http://schemas.openxmlformats.org/drawingml/2006/main">
              <a:ext uri="{FF2B5EF4-FFF2-40B4-BE49-F238E27FC236}">
                <a16:creationId xmlns:a16="http://schemas.microsoft.com/office/drawing/2014/main" id="{C125559A-A6B1-499D-B829-A3F33EA0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86175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Подключение Home Assistant</a:t>
            </a:r>
          </a:p>
        </p:txBody>
      </p:sp>
      <p:sp>
        <p:nvSpPr>
          <p:cNvPr id="11" name="AMI /32, секрет, реальные entity IDs и VoIP pipeline">
            <a:extLst xmlns:a="http://schemas.openxmlformats.org/drawingml/2006/main">
              <a:ext uri="{FF2B5EF4-FFF2-40B4-BE49-F238E27FC236}">
                <a16:creationId xmlns:a16="http://schemas.microsoft.com/office/drawing/2014/main" id="{FDFBEEE9-D974-44AE-BA5D-F300AB130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52900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AMI /32, секрет, реальные entity IDs и VoIP pipeline</a:t>
            </a:r>
          </a:p>
        </p:txBody>
      </p:sp>
      <p:sp>
        <p:nvSpPr>
          <p:cNvPr id="12" name="04">
            <a:extLst xmlns:a="http://schemas.openxmlformats.org/drawingml/2006/main">
              <a:ext uri="{FF2B5EF4-FFF2-40B4-BE49-F238E27FC236}">
                <a16:creationId xmlns:a16="http://schemas.microsoft.com/office/drawing/2014/main" id="{E2235B76-4FEC-4749-B13A-A50DEF3B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43450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3" name="Приёмка и расширение">
            <a:extLst xmlns:a="http://schemas.openxmlformats.org/drawingml/2006/main">
              <a:ext uri="{FF2B5EF4-FFF2-40B4-BE49-F238E27FC236}">
                <a16:creationId xmlns:a16="http://schemas.microsoft.com/office/drawing/2014/main" id="{900D699D-096C-406B-A1D8-F597736F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400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Приёмка и расширение</a:t>
            </a:r>
          </a:p>
        </p:txBody>
      </p:sp>
      <p:sp>
        <p:nvSpPr>
          <p:cNvPr id="14" name="Два аппарата, вызов 630, затем остальные телефоны">
            <a:extLst xmlns:a="http://schemas.openxmlformats.org/drawingml/2006/main">
              <a:ext uri="{FF2B5EF4-FFF2-40B4-BE49-F238E27FC236}">
                <a16:creationId xmlns:a16="http://schemas.microsoft.com/office/drawing/2014/main" id="{C15E3DD9-390D-4A7C-99D9-C8BD35F5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10175"/>
            <a:ext cx="952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Два аппарата, вызов 630, затем остальные телефоны</a:t>
            </a:r>
          </a:p>
        </p:txBody>
      </p:sp>
    </p:spTree>
    <p:extLst>
      <p:ext uri="{BB962C8B-B14F-4D97-AF65-F5344CB8AC3E}">
        <p14:creationId xmlns:p14="http://schemas.microsoft.com/office/powerpoint/2010/main" val="5082358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Приёмка с реальными аппаратами">
            <a:extLst xmlns:a="http://schemas.openxmlformats.org/drawingml/2006/main">
              <a:ext uri="{FF2B5EF4-FFF2-40B4-BE49-F238E27FC236}">
                <a16:creationId xmlns:a16="http://schemas.microsoft.com/office/drawing/2014/main" id="{EE2DCC34-6B82-4309-8401-70678067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Приёмка с реальными аппаратами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ECC8322F-C8AC-449A-9F57-9EC92829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Телефония">
            <a:extLst xmlns:a="http://schemas.openxmlformats.org/drawingml/2006/main">
              <a:ext uri="{FF2B5EF4-FFF2-40B4-BE49-F238E27FC236}">
                <a16:creationId xmlns:a16="http://schemas.microsoft.com/office/drawing/2014/main" id="{466DD954-9065-4961-B29C-EB4E53C1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8592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Телефония</a:t>
            </a:r>
          </a:p>
        </p:txBody>
      </p:sp>
      <p:sp>
        <p:nvSpPr>
          <p:cNvPr id="4" name="201 и 202: регистрация, двусторонний звук, hold / transfer">
            <a:extLst xmlns:a="http://schemas.openxmlformats.org/drawingml/2006/main">
              <a:ext uri="{FF2B5EF4-FFF2-40B4-BE49-F238E27FC236}">
                <a16:creationId xmlns:a16="http://schemas.microsoft.com/office/drawing/2014/main" id="{1873D874-A559-4D5F-B97A-8AA8AF92E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201 и 202: регистрация, двусторонний звук, hold / transfer</a:t>
            </a:r>
          </a:p>
        </p:txBody>
      </p:sp>
      <p:sp>
        <p:nvSpPr>
          <p:cNvPr id="5" name="Home Assistant">
            <a:extLst xmlns:a="http://schemas.openxmlformats.org/drawingml/2006/main">
              <a:ext uri="{FF2B5EF4-FFF2-40B4-BE49-F238E27FC236}">
                <a16:creationId xmlns:a16="http://schemas.microsoft.com/office/drawing/2014/main" id="{8BBDAFB4-7645-472E-8477-A5DE91C2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7CB64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7CB64"/>
                </a:solidFill>
                <a:latin typeface="Arial"/>
                <a:ea typeface="Arial"/>
                <a:cs typeface="Arial"/>
              </a:rPr>
              <a:t>Home Assistant</a:t>
            </a:r>
          </a:p>
        </p:txBody>
      </p:sp>
      <p:sp>
        <p:nvSpPr>
          <p:cNvPr id="6" name="Состояния, Originate, Hangup нужного Channel, DTMF">
            <a:extLst xmlns:a="http://schemas.openxmlformats.org/drawingml/2006/main">
              <a:ext uri="{FF2B5EF4-FFF2-40B4-BE49-F238E27FC236}">
                <a16:creationId xmlns:a16="http://schemas.microsoft.com/office/drawing/2014/main" id="{7057260E-5741-4869-9C74-F47671EA7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Состояния, Originate, Hangup нужного Channel, DTMF</a:t>
            </a:r>
          </a:p>
        </p:txBody>
      </p:sp>
      <p:sp>
        <p:nvSpPr>
          <p:cNvPr id="7" name="Assist 630">
            <a:extLst xmlns:a="http://schemas.openxmlformats.org/drawingml/2006/main">
              <a:ext uri="{FF2B5EF4-FFF2-40B4-BE49-F238E27FC236}">
                <a16:creationId xmlns:a16="http://schemas.microsoft.com/office/drawing/2014/main" id="{0ECBC9DD-C56B-40C6-8373-A5C80C26D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3387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Assist 630</a:t>
            </a:r>
          </a:p>
        </p:txBody>
      </p:sp>
      <p:sp>
        <p:nvSpPr>
          <p:cNvPr id="8" name="Распознавание, ответ голосом и завершение разговора">
            <a:extLst xmlns:a="http://schemas.openxmlformats.org/drawingml/2006/main">
              <a:ext uri="{FF2B5EF4-FFF2-40B4-BE49-F238E27FC236}">
                <a16:creationId xmlns:a16="http://schemas.microsoft.com/office/drawing/2014/main" id="{A1B7B418-D82B-4E40-BC76-245441AA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105727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Распознавание, ответ голосом и завершение разговора</a:t>
            </a:r>
          </a:p>
        </p:txBody>
      </p:sp>
      <p:sp>
        <p:nvSpPr>
          <p:cNvPr id="9" name="Повторить после перезапусков телефона, PBX и HA. Readiness не под">
            <a:extLst xmlns:a="http://schemas.openxmlformats.org/drawingml/2006/main">
              <a:ext uri="{FF2B5EF4-FFF2-40B4-BE49-F238E27FC236}">
                <a16:creationId xmlns:a16="http://schemas.microsoft.com/office/drawing/2014/main" id="{076C4C0F-5D83-4D4C-82DB-3B77BAE9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Повторить после перезапусков телефона, PBX и HA. Readiness не подтверждает звук.</a:t>
            </a:r>
          </a:p>
        </p:txBody>
      </p:sp>
    </p:spTree>
    <p:extLst>
      <p:ext uri="{BB962C8B-B14F-4D97-AF65-F5344CB8AC3E}">
        <p14:creationId xmlns:p14="http://schemas.microsoft.com/office/powerpoint/2010/main" val="109018241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Эксплуатация и восстановление">
            <a:extLst xmlns:a="http://schemas.openxmlformats.org/drawingml/2006/main">
              <a:ext uri="{FF2B5EF4-FFF2-40B4-BE49-F238E27FC236}">
                <a16:creationId xmlns:a16="http://schemas.microsoft.com/office/drawing/2014/main" id="{71DC407F-A424-40DF-99A6-A9DD37CA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Эксплуатация и восстановление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3BFF78FB-BF88-4D1E-A474-4B25A29F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Резервная копия вне Git">
            <a:extLst xmlns:a="http://schemas.openxmlformats.org/drawingml/2006/main">
              <a:ext uri="{FF2B5EF4-FFF2-40B4-BE49-F238E27FC236}">
                <a16:creationId xmlns:a16="http://schemas.microsoft.com/office/drawing/2014/main" id="{1B5B3201-96E5-458C-97C7-03A56E28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Резервная копия вне Git</a:t>
            </a:r>
          </a:p>
        </p:txBody>
      </p:sp>
      <p:sp>
        <p:nvSpPr>
          <p:cNvPr id="4" name="Инвентарь, SIP / AMI секреты и данные Asterisk&#10;HA config / .stora">
            <a:extLst xmlns:a="http://schemas.openxmlformats.org/drawingml/2006/main">
              <a:ext uri="{FF2B5EF4-FFF2-40B4-BE49-F238E27FC236}">
                <a16:creationId xmlns:a16="http://schemas.microsoft.com/office/drawing/2014/main" id="{2FFBE255-8C8C-4C19-B001-EF03C68E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Инвентарь, SIP / AMI секреты и данные Asterisk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HA config / .storage, entity mapping, версии образов</a:t>
            </a:r>
          </a:p>
        </p:txBody>
      </p:sp>
      <p:sp>
        <p:nvSpPr>
          <p:cNvPr id="5" name="Один узел означает одну точку отказа">
            <a:extLst xmlns:a="http://schemas.openxmlformats.org/drawingml/2006/main">
              <a:ext uri="{FF2B5EF4-FFF2-40B4-BE49-F238E27FC236}">
                <a16:creationId xmlns:a16="http://schemas.microsoft.com/office/drawing/2014/main" id="{7011D6D8-4E33-4877-9A56-C0FC9744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Один узел означает одну точку отказа</a:t>
            </a:r>
          </a:p>
        </p:txBody>
      </p:sp>
      <p:sp>
        <p:nvSpPr>
          <p:cNvPr id="6" name="UPS для сетевого оборудования и k3s-узла&#10;План восстановления с те">
            <a:extLst xmlns:a="http://schemas.openxmlformats.org/drawingml/2006/main">
              <a:ext uri="{FF2B5EF4-FFF2-40B4-BE49-F238E27FC236}">
                <a16:creationId xmlns:a16="http://schemas.microsoft.com/office/drawing/2014/main" id="{7EBAFD05-714C-4C6E-A8F5-B7644175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UPS для сетевого оборудования и k3s-узла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План восстановления с тем же LAN IP</a:t>
            </a:r>
          </a:p>
        </p:txBody>
      </p:sp>
      <p:sp>
        <p:nvSpPr>
          <p:cNvPr id="7" name="Raw DTMF и связанные линии исключают из Recorder. Старую историю ">
            <a:extLst xmlns:a="http://schemas.openxmlformats.org/drawingml/2006/main">
              <a:ext uri="{FF2B5EF4-FFF2-40B4-BE49-F238E27FC236}">
                <a16:creationId xmlns:a16="http://schemas.microsoft.com/office/drawing/2014/main" id="{6B8E5853-84D4-4DEE-9A0F-1D66B5CF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Raw DTMF и связанные линии исключают из Recorder. Старую историю проверяют отдельно.</a:t>
            </a:r>
          </a:p>
        </p:txBody>
      </p:sp>
    </p:spTree>
    <p:extLst>
      <p:ext uri="{BB962C8B-B14F-4D97-AF65-F5344CB8AC3E}">
        <p14:creationId xmlns:p14="http://schemas.microsoft.com/office/powerpoint/2010/main" val="12318182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1C3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Готовность сервера и готовность телефонии">
            <a:extLst xmlns:a="http://schemas.openxmlformats.org/drawingml/2006/main">
              <a:ext uri="{FF2B5EF4-FFF2-40B4-BE49-F238E27FC236}">
                <a16:creationId xmlns:a16="http://schemas.microsoft.com/office/drawing/2014/main" id="{B9969ADC-9FEA-49C8-A1AE-696B4CBB8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91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3375" b="1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F5F7FB"/>
                </a:solidFill>
                <a:latin typeface="Arial"/>
                <a:ea typeface="Arial"/>
                <a:cs typeface="Arial"/>
              </a:rPr>
              <a:t>Готовность сервера и готовность телефонии</a:t>
            </a:r>
          </a:p>
        </p:txBody>
      </p:sp>
      <p:sp>
        <p:nvSpPr>
          <p:cNvPr id="2" name="14">
            <a:extLst xmlns:a="http://schemas.openxmlformats.org/drawingml/2006/main">
              <a:ext uri="{FF2B5EF4-FFF2-40B4-BE49-F238E27FC236}">
                <a16:creationId xmlns:a16="http://schemas.microsoft.com/office/drawing/2014/main" id="{679C206E-4103-485D-B9D3-0A74DE9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62700"/>
            <a:ext cx="57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Сервер можно подготовить первым">
            <a:extLst xmlns:a="http://schemas.openxmlformats.org/drawingml/2006/main">
              <a:ext uri="{FF2B5EF4-FFF2-40B4-BE49-F238E27FC236}">
                <a16:creationId xmlns:a16="http://schemas.microsoft.com/office/drawing/2014/main" id="{6CC17E19-005E-46AE-BA8A-BF7D5AB5C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48DDCC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48DDCC"/>
                </a:solidFill>
                <a:latin typeface="Arial"/>
                <a:ea typeface="Arial"/>
                <a:cs typeface="Arial"/>
              </a:rPr>
              <a:t>Сервер можно подготовить первым</a:t>
            </a:r>
          </a:p>
        </p:txBody>
      </p:sp>
      <p:sp>
        <p:nvSpPr>
          <p:cNvPr id="4" name="Образы, конфигурация, AMI и Opus&#10;Проверки подтверждают серверные ">
            <a:extLst xmlns:a="http://schemas.openxmlformats.org/drawingml/2006/main">
              <a:ext uri="{FF2B5EF4-FFF2-40B4-BE49-F238E27FC236}">
                <a16:creationId xmlns:a16="http://schemas.microsoft.com/office/drawing/2014/main" id="{72992023-270F-45EB-9827-F53D5D91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Образы, конфигурация, AMI и Opus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Проверки подтверждают серверные компоненты</a:t>
            </a:r>
          </a:p>
        </p:txBody>
      </p:sp>
      <p:sp>
        <p:nvSpPr>
          <p:cNvPr id="5" name="Телефонию подтверждает пилот">
            <a:extLst xmlns:a="http://schemas.openxmlformats.org/drawingml/2006/main">
              <a:ext uri="{FF2B5EF4-FFF2-40B4-BE49-F238E27FC236}">
                <a16:creationId xmlns:a16="http://schemas.microsoft.com/office/drawing/2014/main" id="{42FD1E6B-8FBF-41B5-8365-8494880B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90950"/>
            <a:ext cx="10572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FF836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836D"/>
                </a:solidFill>
                <a:latin typeface="Arial"/>
                <a:ea typeface="Arial"/>
                <a:cs typeface="Arial"/>
              </a:rPr>
              <a:t>Телефонию подтверждает пилот</a:t>
            </a:r>
          </a:p>
        </p:txBody>
      </p:sp>
      <p:sp>
        <p:nvSpPr>
          <p:cNvPr id="6" name="Инвентарь аппарата, звонок двух участников и Assist&#10;После приёмки">
            <a:extLst xmlns:a="http://schemas.openxmlformats.org/drawingml/2006/main">
              <a:ext uri="{FF2B5EF4-FFF2-40B4-BE49-F238E27FC236}">
                <a16:creationId xmlns:a16="http://schemas.microsoft.com/office/drawing/2014/main" id="{FBCAD4DB-6529-4151-A74F-CD127166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3865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Инвентарь аппарата, звонок двух участников и Assist</a:t>
            </a:r>
          </a:p>
          <a:p xmlns:a="http://schemas.openxmlformats.org/drawingml/2006/main">
            <a:pPr algn="l">
              <a:defRPr sz="2175" b="0">
                <a:solidFill>
                  <a:srgbClr val="F5F7FB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F5F7FB"/>
                </a:solidFill>
                <a:latin typeface="Arial"/>
                <a:ea typeface="Arial"/>
                <a:cs typeface="Arial"/>
              </a:rPr>
              <a:t>После приёмки подключаются остальные телефоны</a:t>
            </a:r>
          </a:p>
        </p:txBody>
      </p:sp>
      <p:sp>
        <p:nvSpPr>
          <p:cNvPr id="7" name="Физическая приёмка остаётся отдельным этапом. Результаты заносятс">
            <a:extLst xmlns:a="http://schemas.openxmlformats.org/drawingml/2006/main">
              <a:ext uri="{FF2B5EF4-FFF2-40B4-BE49-F238E27FC236}">
                <a16:creationId xmlns:a16="http://schemas.microsoft.com/office/drawing/2014/main" id="{FBEEE31A-4577-42F4-9422-37DB65AF5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019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AAB9D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AAB9D0"/>
                </a:solidFill>
                <a:latin typeface="Arial"/>
                <a:ea typeface="Arial"/>
                <a:cs typeface="Arial"/>
              </a:rPr>
              <a:t>Физическая приёмка остаётся отдельным этапом. Результаты заносятся в локальный журнал.</a:t>
            </a:r>
          </a:p>
        </p:txBody>
      </p:sp>
    </p:spTree>
    <p:extLst>
      <p:ext uri="{BB962C8B-B14F-4D97-AF65-F5344CB8AC3E}">
        <p14:creationId xmlns:p14="http://schemas.microsoft.com/office/powerpoint/2010/main" val="4390656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2026-10-17T11:39:30.8220000Z</dcterms:created>
  <dcterms:modified xsi:type="dcterms:W3CDTF">2026-10-17T11:39:30.8230000Z</dcterms:modified>
</coreProperties>
</file>