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9f490f638d94e1e" /><Relationship Type="http://schemas.openxmlformats.org/officeDocument/2006/relationships/extended-properties" Target="/docProps/app.xml" Id="R67c2239e565f4b92" /><Relationship Type="http://schemas.openxmlformats.org/officeDocument/2006/relationships/officeDocument" Target="/ppt/presentation.xml" Id="R4cea943b2da14da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eb79c19d9f24a6c"/>
  </p:sldMasterIdLst>
  <p:notesMasterIdLst>
    <p:notesMasterId xmlns:r="http://schemas.openxmlformats.org/officeDocument/2006/relationships" r:id="R22df47b66e0d4326"/>
  </p:notesMasterIdLst>
  <p:sldIdLst>
    <p:sldId xmlns:r="http://schemas.openxmlformats.org/officeDocument/2006/relationships" id="256" r:id="R87edebc1c16942e1"/>
    <p:sldId xmlns:r="http://schemas.openxmlformats.org/officeDocument/2006/relationships" id="257" r:id="R97b696c34b7b4354"/>
    <p:sldId xmlns:r="http://schemas.openxmlformats.org/officeDocument/2006/relationships" id="258" r:id="R3030d9edfc414f0c"/>
    <p:sldId xmlns:r="http://schemas.openxmlformats.org/officeDocument/2006/relationships" id="259" r:id="Rd674ef21e20e4932"/>
    <p:sldId xmlns:r="http://schemas.openxmlformats.org/officeDocument/2006/relationships" id="260" r:id="R3059d5cb23504cc5"/>
    <p:sldId xmlns:r="http://schemas.openxmlformats.org/officeDocument/2006/relationships" id="261" r:id="R03453cd85e294098"/>
    <p:sldId xmlns:r="http://schemas.openxmlformats.org/officeDocument/2006/relationships" id="262" r:id="R2d3161f53d1a40a4"/>
    <p:sldId xmlns:r="http://schemas.openxmlformats.org/officeDocument/2006/relationships" id="263" r:id="R040815f12c034ea4"/>
    <p:sldId xmlns:r="http://schemas.openxmlformats.org/officeDocument/2006/relationships" id="264" r:id="R9038fffb58b34b21"/>
    <p:sldId xmlns:r="http://schemas.openxmlformats.org/officeDocument/2006/relationships" id="265" r:id="R8c8224b807a84865"/>
    <p:sldId xmlns:r="http://schemas.openxmlformats.org/officeDocument/2006/relationships" id="266" r:id="R7a72b3ddad5041a8"/>
    <p:sldId xmlns:r="http://schemas.openxmlformats.org/officeDocument/2006/relationships" id="267" r:id="R07d957520e494b06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dcb7cb411934a5c" /><Relationship Type="http://schemas.openxmlformats.org/officeDocument/2006/relationships/slideMaster" Target="/ppt/slideMasters/slideMaster1.xml" Id="R8eb79c19d9f24a6c" /><Relationship Type="http://schemas.openxmlformats.org/officeDocument/2006/relationships/notesMaster" Target="/ppt/notesMasters/notesMaster1.xml" Id="R22df47b66e0d4326" /><Relationship Type="http://schemas.openxmlformats.org/officeDocument/2006/relationships/presProps" Target="/ppt/presProps.xml" Id="R397b019c40a44d45" /><Relationship Type="http://schemas.openxmlformats.org/officeDocument/2006/relationships/tableStyles" Target="/ppt/tableStyles.xml" Id="R2692a63ea04641a4" /><Relationship Type="http://schemas.openxmlformats.org/officeDocument/2006/relationships/slide" Target="/ppt/slides/slide1.xml" Id="R87edebc1c16942e1" /><Relationship Type="http://schemas.openxmlformats.org/officeDocument/2006/relationships/slide" Target="/ppt/slides/slide2.xml" Id="R97b696c34b7b4354" /><Relationship Type="http://schemas.openxmlformats.org/officeDocument/2006/relationships/slide" Target="/ppt/slides/slide3.xml" Id="R3030d9edfc414f0c" /><Relationship Type="http://schemas.openxmlformats.org/officeDocument/2006/relationships/slide" Target="/ppt/slides/slide4.xml" Id="Rd674ef21e20e4932" /><Relationship Type="http://schemas.openxmlformats.org/officeDocument/2006/relationships/slide" Target="/ppt/slides/slide5.xml" Id="R3059d5cb23504cc5" /><Relationship Type="http://schemas.openxmlformats.org/officeDocument/2006/relationships/slide" Target="/ppt/slides/slide6.xml" Id="R03453cd85e294098" /><Relationship Type="http://schemas.openxmlformats.org/officeDocument/2006/relationships/slide" Target="/ppt/slides/slide7.xml" Id="R2d3161f53d1a40a4" /><Relationship Type="http://schemas.openxmlformats.org/officeDocument/2006/relationships/slide" Target="/ppt/slides/slide8.xml" Id="R040815f12c034ea4" /><Relationship Type="http://schemas.openxmlformats.org/officeDocument/2006/relationships/slide" Target="/ppt/slides/slide9.xml" Id="R9038fffb58b34b21" /><Relationship Type="http://schemas.openxmlformats.org/officeDocument/2006/relationships/slide" Target="/ppt/slides/slide10.xml" Id="R8c8224b807a84865" /><Relationship Type="http://schemas.openxmlformats.org/officeDocument/2006/relationships/slide" Target="/ppt/slides/slide11.xml" Id="R7a72b3ddad5041a8" /><Relationship Type="http://schemas.openxmlformats.org/officeDocument/2006/relationships/slide" Target="/ppt/slides/slide12.xml" Id="R07d957520e494b0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402ad0b03d544e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335defb05c54b19" /><Relationship Type="http://schemas.openxmlformats.org/officeDocument/2006/relationships/notesMaster" Target="/ppt/notesMasters/notesMaster1.xml" Id="Rcc3379185dd5495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f1fcf1536a549fd" /><Relationship Type="http://schemas.openxmlformats.org/officeDocument/2006/relationships/notesMaster" Target="/ppt/notesMasters/notesMaster1.xml" Id="R1f710b10730a4f4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cecbde317574f8b" /><Relationship Type="http://schemas.openxmlformats.org/officeDocument/2006/relationships/notesMaster" Target="/ppt/notesMasters/notesMaster1.xml" Id="R5f3738cfbb1e491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c3f87662f7d40b0" /><Relationship Type="http://schemas.openxmlformats.org/officeDocument/2006/relationships/notesMaster" Target="/ppt/notesMasters/notesMaster1.xml" Id="R00f2e4bb32ad4a4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05d912513d64988" /><Relationship Type="http://schemas.openxmlformats.org/officeDocument/2006/relationships/notesMaster" Target="/ppt/notesMasters/notesMaster1.xml" Id="R8f85dc9e135b40b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4fa9e9d17864f48" /><Relationship Type="http://schemas.openxmlformats.org/officeDocument/2006/relationships/notesMaster" Target="/ppt/notesMasters/notesMaster1.xml" Id="R52e5b4e65d294a7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9b79c9912f24e17" /><Relationship Type="http://schemas.openxmlformats.org/officeDocument/2006/relationships/notesMaster" Target="/ppt/notesMasters/notesMaster1.xml" Id="R44290295ab744c0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7d813c7b8d84c9f" /><Relationship Type="http://schemas.openxmlformats.org/officeDocument/2006/relationships/notesMaster" Target="/ppt/notesMasters/notesMaster1.xml" Id="Re7d7ad78718f44b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4c7420e85cf4e2b" /><Relationship Type="http://schemas.openxmlformats.org/officeDocument/2006/relationships/notesMaster" Target="/ppt/notesMasters/notesMaster1.xml" Id="R88f2e2214b70485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07af83b4efea459e" /><Relationship Type="http://schemas.openxmlformats.org/officeDocument/2006/relationships/notesMaster" Target="/ppt/notesMasters/notesMaster1.xml" Id="R80fd1cd3f890457f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718dad7076634a1d" /><Relationship Type="http://schemas.openxmlformats.org/officeDocument/2006/relationships/notesMaster" Target="/ppt/notesMasters/notesMaster1.xml" Id="R96dd567943244b6d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a01fb20c99fb43b4" /><Relationship Type="http://schemas.openxmlformats.org/officeDocument/2006/relationships/notesMaster" Target="/ppt/notesMasters/notesMaster1.xml" Id="Rfbb01b4a987748e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Партия: 10 × Cisco 7945G. Модель подтверждена письмом eBay о доставке от 1 декабря 2022 года. Адрес доставки и платёжные данные в репозиторий не включены. Состояние и прошивка каждого сохранившегося аппарата требуют инвентаризации. Дата подготовки: 16 октября 2026 года.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Модель и количество подтверждены письмом eBay о доставке 01.12.2022. Cisco firmware family 7945_7965: https://www.cisco.com/web/software/282074288/128566/cmterm-7945_7965-sip.9-4-2SR2-2-readme.html</a:t>
            </a:r>
          </a:p>
          <a:p xmlns:a="http://schemas.openxmlformats.org/drawingml/2006/main">
            <a:r>
              <a:t>PoE: https://www.cisco.com/c/en/us/support/docs/voice-unified-communications/unified-ip-phone-7900-series/97869-poe-requirement-faq.html</a:t>
            </a:r>
          </a:p>
          <a:p xmlns:a="http://schemas.openxmlformats.org/drawingml/2006/main">
            <a:r>
              <a:t>Поддержка SIP подтверждает наличие прошивки. Совместимость функций с Asterisk проверяется в пилоте.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Проектное решение: одна реплика Asterisk на закреплённом LAN-узле, hostNetwork, постоянный LAN IP. Router DHCP сохраняется существующим. TFTP включается по необходимости. RTP-диапазон является локально выбранным, не универсальным стандартом. Kubernetes: https://kubernetes.io/docs/concepts/workloads/controllers/deployment/</a:t>
            </a:r>
          </a:p>
          <a:p xmlns:a="http://schemas.openxmlformats.org/drawingml/2006/main">
            <a:r>
              <a:t>PJSIP: https://docs.asterisk.org/Configuration/Channel-Drivers/SIP/Configuring-res_pjsip/res_pjsip-Configuration-Examples/</a:t>
            </a:r>
          </a:p>
          <a:p xmlns:a="http://schemas.openxmlformats.org/drawingml/2006/main">
            <a:r>
              <a:t>См. docs/k3s-deployment.md и deployment manifests.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Проектная конфигурация портов: SIP TCP и UDP 5060, RTP UDP 10000–10199. Для tftpd-hpa резервируется UDP 69 и диапазон передачи UDP 20000–20031. Разрешить доступ только нужной LAN/VLAN через host firewall: NetworkPolicy не является единственной защитой для hostNetwork. Для SIP/RTP HTTP Ingress не используется. https://docs.asterisk.org/Configuration/Channel-Drivers/SIP/Configuring-res_pjsip/res_pjsip-Configuration-Examples/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Cisco 7945G поддерживает IEEE 802.3af: https://www.cisco.com/c/en/us/support/docs/voice-unified-communications/unified-ip-phone-7900-series/97869-poe-requirement-faq.html</a:t>
            </a:r>
          </a:p>
          <a:p xmlns:a="http://schemas.openxmlformats.org/drawingml/2006/main">
            <a:r>
              <a:t>Если существующий коммутатор без PoE, нужен активный IEEE 802.3af injector или PoE switch, аппаратная переделка телефона не требуется. Подключать в сетевой порт SW/Network. Проверять бюджет порта и суммарный бюджет коммутатора. Для питания при отключении электроэнергии нужен UPS всей цепочке.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Универсальной команды factory reset для всех состояний нет. Требуется проверить текущую App Load и цепочку обновления. Cisco README для семейства 7945_7965: https://www.cisco.com/web/software/282074288/128566/cmterm-7945_7965-sip.9-4-2SR2-2-readme.html</a:t>
            </a:r>
          </a:p>
          <a:p xmlns:a="http://schemas.openxmlformats.org/drawingml/2006/main">
            <a:r>
              <a:t>Для HW13.0+ запрещён downgrade ниже 9.3(1)SR3. Нельзя применять промежуточную 8.5(2) ко всей партии. Для исходной версии до 8.3(3) при переходе к 9.3(1)+ требуется промежуточный этап 8.3(3)–8.5(2), с дополнительными оговорками в release notes конкретной версии: https://www.cisco.com/en/US/docs/voice_ip_comm/cuipph/7900_series/firmware/9_3_1SR4/english/release_notes/P790_BK_RF3660D6_00_rn-9_3_1sr4-7900-series_chapter_00.pdf</a:t>
            </a:r>
          </a:p>
          <a:p xmlns:a="http://schemas.openxmlformats.org/drawingml/2006/main">
            <a:r>
              <a:t>Пакет Cisco получают легально, SHA-256 фиксируют локально. Одного .loads недостаточно.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Cisco: https://www.cisco.com/web/software/282074288/128566/cmterm-7945_7965-sip.9-4-2SR2-2-readme.html</a:t>
            </a:r>
          </a:p>
          <a:p xmlns:a="http://schemas.openxmlformats.org/drawingml/2006/main">
            <a:r>
              <a:t>Точное имя loadInformation выбирается из README и .loads выбранного пакета. Нельзя переносить файл от 7942/7962. SEP filenames используют MAC без разделителей и верхний регистр. Конфигурация может содержать SIP-пароль, поэтому TFTP доступен только доверенной LAN. DHCP option 150 задают на существующем DHCP-сервере либо используют Alternate TFTP телефона.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PJSIP examples: https://docs.asterisk.org/Configuration/Channel-Drivers/SIP/Configuring-res_pjsip/res_pjsip-Configuration-Examples/</a:t>
            </a:r>
          </a:p>
          <a:p xmlns:a="http://schemas.openxmlformats.org/drawingml/2006/main">
            <a:r>
              <a:t>Проектный baseline: endpoint/auth/aor на каждый аппарат, уникальный пароль, transport согласован с phone XML. TCP+UDP слушатели поддерживают проверку аппаратов. Кодеки G.711 ulaw/alaw, direct_media=no удерживает RTP через Asterisk. NAT-настройки не добавляют без необходимости в плоской LAN. Стартовый сценарий ограничен внутренними звонками без PSTN/SIP trunk.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См. README.md, docs/k3s-deployment.md, scripts/ и deploy/. namespace: telephony. Команды: python3 scripts/provision.py --site .local/site.json --inventory .local/phones.json; python3 scripts/verify_firmware.py --directory .local/firmware --manifest .local/firmware-manifest.json; scripts/build-images.sh; scripts/deploy.sh (dry-run по умолчанию), scripts/deploy.sh --apply (явное применение). Здесь этапы, а точные команды находятся в runbook. k3s requirements: https://docs.k3s.io/installation/requirements</a:t>
            </a:r>
          </a:p>
          <a:p xmlns:a="http://schemas.openxmlformats.org/drawingml/2006/main">
            <a:r>
              <a:t>Закрепление узла предотвращает незаметную смену LAN IP телефонии. Одна реплика и Recreate предотвращают одновременную попытку занять hostNetwork-порты. Private registry и imagePullSecret при необходимости.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Критерии интеграционного тестирования проекта, а не заявление о проведённых проверках реального оборудования. Нужны два телефона. Проверить регистрацию, вызовы 201→202 и 202→201, голос в обе стороны, DTMF/echo test, hold и transfer, корректное время, перезагрузку телефона и контролируемый restart pod. Симуляция или static validation не заменяют проверку на аппаратах.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Проектные эксплуатационные требования. Поддерживается один узел для телефонии, это не высокая доступность. Резервная копия должна включать inventory, секреты, конфиги, persistent Asterisk data и provenance firmware, при необходимости voicemail. Проверять restore на отдельной тестовой среде. При смене LAN IP обновляют provisioning и сетевые правила. Не публиковать SIP-пароли и firmware binaries в Git.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План запуска, реальные телефоны ещё не прошиты и кластер не изменён. Начать с одного аппарата, затем проверить пару, затем подключить остальные. Фактическое количество сохранившихся устройств, App Load, адрес LAN-узла, DHCP router и питание требуют локальной инвентаризации. Репозиторий содержит инструкции, сценарии, SVG и редактируемую презентацию.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32ff13a016f47a6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62041737a8f499d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20e8134c497490e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6c2f7c0956848c7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af2e89c99ce436e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3d8dd56460b478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C0E98AFF-DB3F-4D4D-B790-192DDBC700F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91B1E782-F1D0-4BAC-A2E9-3056B3ABD09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2263BE92-CABD-4809-B9D4-C9823A54820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F02A572-3E20-4F7B-ADAD-E7A806E1DF6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5F80CE2B-D69F-4050-8D77-367C10618CB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E25B386F-348C-4A3A-9399-E7E21BA84A0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6AB0622B-09BC-4B64-8C1F-27046B4CB61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1C213094-CD1D-473F-A16E-73D87D43A064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14ABBB1-75B0-4B99-90BE-129EB84FCAD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A8B5242A-372D-4C55-B518-259FA209E56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2c2bee303774667" /><Relationship Type="http://schemas.openxmlformats.org/officeDocument/2006/relationships/slideLayout" Target="/ppt/slideLayouts/slideLayout1.xml" Id="R8d1cda2d0418490a" /><Relationship Type="http://schemas.openxmlformats.org/officeDocument/2006/relationships/slideLayout" Target="/ppt/slideLayouts/slideLayout2.xml" Id="Rf97fb939aa0747bd" /><Relationship Type="http://schemas.openxmlformats.org/officeDocument/2006/relationships/slideLayout" Target="/ppt/slideLayouts/slideLayout3.xml" Id="Ra518c36cf60046d9" /><Relationship Type="http://schemas.openxmlformats.org/officeDocument/2006/relationships/slideLayout" Target="/ppt/slideLayouts/slideLayout4.xml" Id="Ra4731a0f8fb049ff" /><Relationship Type="http://schemas.openxmlformats.org/officeDocument/2006/relationships/slideLayout" Target="/ppt/slideLayouts/slideLayout5.xml" Id="R53ff297f803c4e48" /><Relationship Type="http://schemas.openxmlformats.org/officeDocument/2006/relationships/slideLayout" Target="/ppt/slideLayouts/slideLayout6.xml" Id="Rfeabee27881e47d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d1cda2d0418490a"/>
    <p:sldLayoutId xmlns:r="http://schemas.openxmlformats.org/officeDocument/2006/relationships" id="2147483650" r:id="Rf97fb939aa0747bd"/>
    <p:sldLayoutId xmlns:r="http://schemas.openxmlformats.org/officeDocument/2006/relationships" id="2147483651" r:id="Ra518c36cf60046d9"/>
    <p:sldLayoutId xmlns:r="http://schemas.openxmlformats.org/officeDocument/2006/relationships" id="2147483652" r:id="Ra4731a0f8fb049ff"/>
    <p:sldLayoutId xmlns:r="http://schemas.openxmlformats.org/officeDocument/2006/relationships" id="2147483653" r:id="R53ff297f803c4e48"/>
    <p:sldLayoutId xmlns:r="http://schemas.openxmlformats.org/officeDocument/2006/relationships" id="2147483654" r:id="Rfeabee27881e47d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3fbc3af012546a4" /><Relationship Type="http://schemas.openxmlformats.org/officeDocument/2006/relationships/notesSlide" Target="/ppt/notesSlides/notesSlide1.xml" Id="Rb8b1bb75212f479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4c9feab112f4072" /><Relationship Type="http://schemas.openxmlformats.org/officeDocument/2006/relationships/notesSlide" Target="/ppt/notesSlides/notesSlide2.xml" Id="R7a782205cc9a4ba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7f000c59bde4709" /><Relationship Type="http://schemas.openxmlformats.org/officeDocument/2006/relationships/notesSlide" Target="/ppt/notesSlides/notesSlide3.xml" Id="Rb943e081f9a5465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52f72ffb56b4b53" /><Relationship Type="http://schemas.openxmlformats.org/officeDocument/2006/relationships/notesSlide" Target="/ppt/notesSlides/notesSlide4.xml" Id="R6eb8c2319f004cf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420021cf28e4240" /><Relationship Type="http://schemas.openxmlformats.org/officeDocument/2006/relationships/notesSlide" Target="/ppt/notesSlides/notesSlide5.xml" Id="R0498ea25d9ad4c0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7babab72ebd4f35" /><Relationship Type="http://schemas.openxmlformats.org/officeDocument/2006/relationships/notesSlide" Target="/ppt/notesSlides/notesSlide6.xml" Id="Refaaa4c5b5fe4d5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a94059e491d41f8" /><Relationship Type="http://schemas.openxmlformats.org/officeDocument/2006/relationships/notesSlide" Target="/ppt/notesSlides/notesSlide7.xml" Id="R96d03169e6134aa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a2a31c0aa3b426d" /><Relationship Type="http://schemas.openxmlformats.org/officeDocument/2006/relationships/notesSlide" Target="/ppt/notesSlides/notesSlide8.xml" Id="Ref91f46d154d43cd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e7c8dfa42d642c5" /><Relationship Type="http://schemas.openxmlformats.org/officeDocument/2006/relationships/notesSlide" Target="/ppt/notesSlides/notesSlide9.xml" Id="Re6c438f6a1824fbb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c84f2a481b94ab8" /><Relationship Type="http://schemas.openxmlformats.org/officeDocument/2006/relationships/notesSlide" Target="/ppt/notesSlides/notesSlide10.xml" Id="R6de86ee40703418f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63d6fe939224b3b" /><Relationship Type="http://schemas.openxmlformats.org/officeDocument/2006/relationships/notesSlide" Target="/ppt/notesSlides/notesSlide11.xml" Id="R0dadf951656040eb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4f58254a8054672" /><Relationship Type="http://schemas.openxmlformats.org/officeDocument/2006/relationships/notesSlide" Target="/ppt/notesSlides/notesSlide12.xml" Id="R3659370d0fd3470e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01C3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FD52AFB-C234-418E-A1C1-95C8754DA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19100"/>
            <a:ext cx="1095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75" b="1">
                <a:solidFill>
                  <a:srgbClr val="F5F7F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r>
              <a:t/>
            </a:r>
          </a:p>
        </p:txBody>
      </p:sp>
      <p:sp>
        <p:nvSpPr>
          <p:cNvPr id="2" name="01">
            <a:extLst xmlns:a="http://schemas.openxmlformats.org/drawingml/2006/main">
              <a:ext uri="{FF2B5EF4-FFF2-40B4-BE49-F238E27FC236}">
                <a16:creationId xmlns:a16="http://schemas.microsoft.com/office/drawing/2014/main" id="{049BB180-F1FA-4704-A45A-DB631FE94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AAB9D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AAB9D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AAB9D0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3" name="Cisco 7945G">
            <a:extLst xmlns:a="http://schemas.openxmlformats.org/drawingml/2006/main">
              <a:ext uri="{FF2B5EF4-FFF2-40B4-BE49-F238E27FC236}">
                <a16:creationId xmlns:a16="http://schemas.microsoft.com/office/drawing/2014/main" id="{0C76CD09-97D3-454A-B7F1-1F0B10622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85875"/>
            <a:ext cx="110490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6000" b="1">
                <a:solidFill>
                  <a:srgbClr val="48DDC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6000" b="1">
                <a:solidFill>
                  <a:srgbClr val="48DDCC"/>
                </a:solidFill>
                <a:latin typeface="Arial"/>
                <a:ea typeface="Arial"/>
                <a:cs typeface="Arial"/>
              </a:defRPr>
            </a:pPr>
            <a:r>
              <a:rPr sz="6000" b="1">
                <a:solidFill>
                  <a:srgbClr val="48DDCC"/>
                </a:solidFill>
                <a:latin typeface="Arial"/>
                <a:ea typeface="Arial"/>
                <a:cs typeface="Arial"/>
              </a:rPr>
              <a:t>Cisco 7945G</a:t>
            </a:r>
          </a:p>
        </p:txBody>
      </p:sp>
      <p:sp>
        <p:nvSpPr>
          <p:cNvPr id="4" name="Домашняя телефония">
            <a:extLst xmlns:a="http://schemas.openxmlformats.org/drawingml/2006/main">
              <a:ext uri="{FF2B5EF4-FFF2-40B4-BE49-F238E27FC236}">
                <a16:creationId xmlns:a16="http://schemas.microsoft.com/office/drawing/2014/main" id="{0CBDF87C-2937-4F65-9D64-E3D48B7ED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24125"/>
            <a:ext cx="11049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4575" b="1">
                <a:solidFill>
                  <a:srgbClr val="F5F7F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4575" b="1">
                <a:solidFill>
                  <a:srgbClr val="F5F7FB"/>
                </a:solidFill>
                <a:latin typeface="Arial"/>
                <a:ea typeface="Arial"/>
                <a:cs typeface="Arial"/>
              </a:defRPr>
            </a:pPr>
            <a:r>
              <a:rPr sz="4575" b="1">
                <a:solidFill>
                  <a:srgbClr val="F5F7FB"/>
                </a:solidFill>
                <a:latin typeface="Arial"/>
                <a:ea typeface="Arial"/>
                <a:cs typeface="Arial"/>
              </a:rPr>
              <a:t>Домашняя телефония</a:t>
            </a:r>
          </a:p>
        </p:txBody>
      </p:sp>
      <p:sp>
        <p:nvSpPr>
          <p:cNvPr id="5" name="SIP и Asterisk в k3s">
            <a:extLst xmlns:a="http://schemas.openxmlformats.org/drawingml/2006/main">
              <a:ext uri="{FF2B5EF4-FFF2-40B4-BE49-F238E27FC236}">
                <a16:creationId xmlns:a16="http://schemas.microsoft.com/office/drawing/2014/main" id="{D85F72C3-F0EE-4531-833C-6FC41FB47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10000"/>
            <a:ext cx="104775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75" b="0">
                <a:solidFill>
                  <a:srgbClr val="FF836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3075" b="0">
                <a:solidFill>
                  <a:srgbClr val="FF836D"/>
                </a:solidFill>
                <a:latin typeface="Arial"/>
                <a:ea typeface="Arial"/>
                <a:cs typeface="Arial"/>
              </a:defRPr>
            </a:pPr>
            <a:r>
              <a:rPr sz="3075" b="0">
                <a:solidFill>
                  <a:srgbClr val="FF836D"/>
                </a:solidFill>
                <a:latin typeface="Arial"/>
                <a:ea typeface="Arial"/>
                <a:cs typeface="Arial"/>
              </a:rPr>
              <a:t>SIP и Asterisk в k3s</a:t>
            </a:r>
          </a:p>
        </p:txBody>
      </p:sp>
      <p:sp>
        <p:nvSpPr>
          <p:cNvPr id="6" name="10 аппаратов с цветным экраном">
            <a:extLst xmlns:a="http://schemas.openxmlformats.org/drawingml/2006/main">
              <a:ext uri="{FF2B5EF4-FFF2-40B4-BE49-F238E27FC236}">
                <a16:creationId xmlns:a16="http://schemas.microsoft.com/office/drawing/2014/main" id="{E6716786-4431-4E49-8B27-DB002B08A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143500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AAB9D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175" b="0">
                <a:solidFill>
                  <a:srgbClr val="AAB9D0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AAB9D0"/>
                </a:solidFill>
                <a:latin typeface="Arial"/>
                <a:ea typeface="Arial"/>
                <a:cs typeface="Arial"/>
              </a:rPr>
              <a:t>10 аппаратов с цветным экраном</a:t>
            </a:r>
          </a:p>
        </p:txBody>
      </p:sp>
    </p:spTree>
    <p:extLst>
      <p:ext uri="{BB962C8B-B14F-4D97-AF65-F5344CB8AC3E}">
        <p14:creationId xmlns:p14="http://schemas.microsoft.com/office/powerpoint/2010/main" val="116081621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101C3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Наша партия: 10 × Cisco 7945G">
            <a:extLst xmlns:a="http://schemas.openxmlformats.org/drawingml/2006/main">
              <a:ext uri="{FF2B5EF4-FFF2-40B4-BE49-F238E27FC236}">
                <a16:creationId xmlns:a16="http://schemas.microsoft.com/office/drawing/2014/main" id="{86F3384D-9E69-4E87-A730-3717CB7D3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19100"/>
            <a:ext cx="1095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75" b="1">
                <a:solidFill>
                  <a:srgbClr val="F5F7F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3375" b="1">
                <a:solidFill>
                  <a:srgbClr val="F5F7FB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F5F7FB"/>
                </a:solidFill>
                <a:latin typeface="Arial"/>
                <a:ea typeface="Arial"/>
                <a:cs typeface="Arial"/>
              </a:rPr>
              <a:t>Наша партия: 10 × Cisco 7945G</a:t>
            </a:r>
          </a:p>
        </p:txBody>
      </p:sp>
      <p:sp>
        <p:nvSpPr>
          <p:cNvPr id="2" name="02">
            <a:extLst xmlns:a="http://schemas.openxmlformats.org/drawingml/2006/main">
              <a:ext uri="{FF2B5EF4-FFF2-40B4-BE49-F238E27FC236}">
                <a16:creationId xmlns:a16="http://schemas.microsoft.com/office/drawing/2014/main" id="{7F851AD9-C05C-400E-9C9F-25B148DA6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AAB9D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AAB9D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AAB9D0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3" name="10">
            <a:extLst xmlns:a="http://schemas.openxmlformats.org/drawingml/2006/main">
              <a:ext uri="{FF2B5EF4-FFF2-40B4-BE49-F238E27FC236}">
                <a16:creationId xmlns:a16="http://schemas.microsoft.com/office/drawing/2014/main" id="{63C8E71A-97DD-4744-8F16-CB64814A9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762125"/>
            <a:ext cx="23812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900" b="1">
                <a:solidFill>
                  <a:srgbClr val="48DDC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900" b="1">
                <a:solidFill>
                  <a:srgbClr val="48DDCC"/>
                </a:solidFill>
                <a:latin typeface="Arial"/>
                <a:ea typeface="Arial"/>
                <a:cs typeface="Arial"/>
              </a:defRPr>
            </a:pPr>
            <a:r>
              <a:rPr sz="9900" b="1">
                <a:solidFill>
                  <a:srgbClr val="48DDCC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4" name="телефонов">
            <a:extLst xmlns:a="http://schemas.openxmlformats.org/drawingml/2006/main">
              <a:ext uri="{FF2B5EF4-FFF2-40B4-BE49-F238E27FC236}">
                <a16:creationId xmlns:a16="http://schemas.microsoft.com/office/drawing/2014/main" id="{2E9F7942-2978-4901-85A2-86ED72BB8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0"/>
            <a:ext cx="238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AAB9D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100" b="0">
                <a:solidFill>
                  <a:srgbClr val="AAB9D0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AAB9D0"/>
                </a:solidFill>
                <a:latin typeface="Arial"/>
                <a:ea typeface="Arial"/>
                <a:cs typeface="Arial"/>
              </a:rPr>
              <a:t>телефонов</a:t>
            </a:r>
          </a:p>
        </p:txBody>
      </p:sp>
      <p:sp>
        <p:nvSpPr>
          <p:cNvPr id="5" name="SIP-прошивка семейства 7945_7965">
            <a:extLst xmlns:a="http://schemas.openxmlformats.org/drawingml/2006/main">
              <a:ext uri="{FF2B5EF4-FFF2-40B4-BE49-F238E27FC236}">
                <a16:creationId xmlns:a16="http://schemas.microsoft.com/office/drawing/2014/main" id="{590D9D60-25F8-4EFF-8490-3F308ABFD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1714500"/>
            <a:ext cx="77152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75" b="1">
                <a:solidFill>
                  <a:srgbClr val="F5F7F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475" b="1">
                <a:solidFill>
                  <a:srgbClr val="F5F7FB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F5F7FB"/>
                </a:solidFill>
                <a:latin typeface="Arial"/>
                <a:ea typeface="Arial"/>
                <a:cs typeface="Arial"/>
              </a:rPr>
              <a:t>SIP-прошивка семейства 7945_7965</a:t>
            </a:r>
          </a:p>
        </p:txBody>
      </p:sp>
      <p:sp>
        <p:nvSpPr>
          <p:cNvPr id="6" name="Если сейчас SCCP, нужен переход на SIP.&#10;MPP-конверсия этой модели">
            <a:extLst xmlns:a="http://schemas.openxmlformats.org/drawingml/2006/main">
              <a:ext uri="{FF2B5EF4-FFF2-40B4-BE49-F238E27FC236}">
                <a16:creationId xmlns:a16="http://schemas.microsoft.com/office/drawing/2014/main" id="{D71D83EA-A670-4D60-BA9E-230178EF5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2762250"/>
            <a:ext cx="766762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AAB9D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AAB9D0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AAB9D0"/>
                </a:solidFill>
                <a:latin typeface="Arial"/>
                <a:ea typeface="Arial"/>
                <a:cs typeface="Arial"/>
              </a:rPr>
              <a:t>Если сейчас SCCP, нужен переход на SIP.</a:t>
            </a:r>
          </a:p>
          <a:p xmlns:a="http://schemas.openxmlformats.org/drawingml/2006/main">
            <a:pPr algn="l">
              <a:defRPr sz="2025" b="0">
                <a:solidFill>
                  <a:srgbClr val="AAB9D0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AAB9D0"/>
                </a:solidFill>
                <a:latin typeface="Arial"/>
                <a:ea typeface="Arial"/>
                <a:cs typeface="Arial"/>
              </a:rPr>
              <a:t>MPP-конверсия этой модели не требуется.</a:t>
            </a:r>
          </a:p>
        </p:txBody>
      </p:sp>
      <p:sp>
        <p:nvSpPr>
          <p:cNvPr id="7" name="Перед работой">
            <a:extLst xmlns:a="http://schemas.openxmlformats.org/drawingml/2006/main">
              <a:ext uri="{FF2B5EF4-FFF2-40B4-BE49-F238E27FC236}">
                <a16:creationId xmlns:a16="http://schemas.microsoft.com/office/drawing/2014/main" id="{834DBC09-ACD0-403E-BABD-55CC65A44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4429125"/>
            <a:ext cx="75247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F7CB6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F7CB64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F7CB64"/>
                </a:solidFill>
                <a:latin typeface="Arial"/>
                <a:ea typeface="Arial"/>
                <a:cs typeface="Arial"/>
              </a:rPr>
              <a:t>Перед работой</a:t>
            </a:r>
          </a:p>
        </p:txBody>
      </p:sp>
      <p:sp>
        <p:nvSpPr>
          <p:cNvPr id="8" name="С каждого телефона: PID, VID/HW, MAC,&#10;App Load, Boot Load, IP и T">
            <a:extLst xmlns:a="http://schemas.openxmlformats.org/drawingml/2006/main">
              <a:ext uri="{FF2B5EF4-FFF2-40B4-BE49-F238E27FC236}">
                <a16:creationId xmlns:a16="http://schemas.microsoft.com/office/drawing/2014/main" id="{9B865B72-F164-44D4-A1E9-D74268F22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4953000"/>
            <a:ext cx="76676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5F7F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F5F7FB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F5F7FB"/>
                </a:solidFill>
                <a:latin typeface="Arial"/>
                <a:ea typeface="Arial"/>
                <a:cs typeface="Arial"/>
              </a:rPr>
              <a:t>С каждого телефона: PID, VID/HW, MAC,</a:t>
            </a:r>
          </a:p>
          <a:p xmlns:a="http://schemas.openxmlformats.org/drawingml/2006/main">
            <a:pPr algn="l">
              <a:defRPr sz="2025" b="0">
                <a:solidFill>
                  <a:srgbClr val="F5F7FB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F5F7FB"/>
                </a:solidFill>
                <a:latin typeface="Arial"/>
                <a:ea typeface="Arial"/>
                <a:cs typeface="Arial"/>
              </a:rPr>
              <a:t>App Load, Boot Load, IP и TFTP.</a:t>
            </a:r>
          </a:p>
        </p:txBody>
      </p:sp>
    </p:spTree>
    <p:extLst>
      <p:ext uri="{BB962C8B-B14F-4D97-AF65-F5344CB8AC3E}">
        <p14:creationId xmlns:p14="http://schemas.microsoft.com/office/powerpoint/2010/main" val="112661698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101C3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CF8C426-1C98-4254-AC7B-9F5310587E79}"/>
              </a:ext>
            </a:extLst>
          </p:cNvPr>
          <p:cNvCxnSpPr>
            <a:stCxn xmlns:a="http://schemas.openxmlformats.org/drawingml/2006/main" id="6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>
            <a:off x="5881688" y="3333750"/>
            <a:ext cx="1843087" cy="1264445"/>
          </a:xfrm>
          <a:prstGeom xmlns:a="http://schemas.openxmlformats.org/drawingml/2006/main" prst="bentConnector3">
            <a:avLst>
              <a:gd name="adj1" fmla="val 12403"/>
            </a:avLst>
          </a:prstGeom>
          <a:ln xmlns:a="http://schemas.openxmlformats.org/drawingml/2006/main" w="28575">
            <a:solidFill>
              <a:srgbClr val="FF836D"/>
            </a:solidFill>
            <a:tailEnd type="triangle" w="sm" len="sm"/>
          </a:ln>
        </p:spPr>
      </p:cxnSp>
      <p:cxnSp>
        <p:nvCxn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1171F5E-FDF5-48C5-BC83-CE8CFD329ABF}"/>
              </a:ext>
            </a:extLst>
          </p:cNvPr>
          <p:cNvCxnSpPr>
            <a:stCxn xmlns:a="http://schemas.openxmlformats.org/drawingml/2006/main" id="6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 flipV="1">
            <a:off x="5881688" y="2905126"/>
            <a:ext cx="1843087" cy="428625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28575">
            <a:solidFill>
              <a:srgbClr val="48DDCC"/>
            </a:solidFill>
            <a:tailEnd type="triangle" w="sm" len="sm"/>
          </a:ln>
        </p:spPr>
      </p:cxnSp>
      <p:cxnSp>
        <p:nvCxn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1E6F03F-DA00-49F1-8ED8-6A649046BA4C}"/>
              </a:ext>
            </a:extLst>
          </p:cNvPr>
          <p:cNvCxnSpPr>
            <a:stCxn xmlns:a="http://schemas.openxmlformats.org/drawingml/2006/main" id="7" idx="2"/>
            <a:endCxn xmlns:a="http://schemas.openxmlformats.org/drawingml/2006/main" id="6" idx="0"/>
          </p:cNvCxnSpPr>
          <p:nvPr/>
        </p:nvCxnSpPr>
        <p:spPr>
          <a:xfrm xmlns:a="http://schemas.openxmlformats.org/drawingml/2006/main">
            <a:off x="4745832" y="2219325"/>
            <a:ext cx="0" cy="600075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F7CB64"/>
            </a:solidFill>
            <a:tailEnd type="triangle" w="sm" len="sm"/>
          </a:ln>
        </p:spPr>
      </p:cxnSp>
      <p:cxnSp>
        <p:nvCxn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549E33D-A37A-434A-A332-464F57ECA283}"/>
              </a:ext>
            </a:extLst>
          </p:cNvPr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3138488" y="3333750"/>
            <a:ext cx="471487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48DDCC"/>
            </a:solidFill>
            <a:tailEnd type="triangle" w="sm" len="sm"/>
          </a:ln>
        </p:spPr>
      </p:cxnSp>
      <p:sp>
        <p:nvSpPr>
          <p:cNvPr id="18" name="Cisco 7945G в домашней сети">
            <a:extLst xmlns:a="http://schemas.openxmlformats.org/drawingml/2006/main">
              <a:ext uri="{FF2B5EF4-FFF2-40B4-BE49-F238E27FC236}">
                <a16:creationId xmlns:a16="http://schemas.microsoft.com/office/drawing/2014/main" id="{2DD9F9B3-C649-49DF-B23A-B66909752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19100"/>
            <a:ext cx="1095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75" b="1">
                <a:solidFill>
                  <a:srgbClr val="F5F7F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3375" b="1">
                <a:solidFill>
                  <a:srgbClr val="F5F7FB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F5F7FB"/>
                </a:solidFill>
                <a:latin typeface="Arial"/>
                <a:ea typeface="Arial"/>
                <a:cs typeface="Arial"/>
              </a:rPr>
              <a:t>Cisco 7945G в домашней сети</a:t>
            </a:r>
          </a:p>
        </p:txBody>
      </p:sp>
      <p:sp>
        <p:nvSpPr>
          <p:cNvPr id="2" name="03">
            <a:extLst xmlns:a="http://schemas.openxmlformats.org/drawingml/2006/main">
              <a:ext uri="{FF2B5EF4-FFF2-40B4-BE49-F238E27FC236}">
                <a16:creationId xmlns:a16="http://schemas.microsoft.com/office/drawing/2014/main" id="{E8866123-EC7D-4A7B-A6E9-E14767133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AAB9D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AAB9D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AAB9D0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14E76D8-2514-454F-B9FC-A1600268E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1876425"/>
            <a:ext cx="3343275" cy="3343275"/>
          </a:xfrm>
          <a:prstGeom xmlns:a="http://schemas.openxmlformats.org/drawingml/2006/main" prst="roundRect">
            <a:avLst>
              <a:gd name="adj" fmla="val 2279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AAB9D0"/>
            </a:solidFill>
            <a:prstDash val="dash"/>
          </a:ln>
        </p:spPr>
      </p:sp>
      <p:sp>
        <p:nvSpPr>
          <p:cNvPr id="4" name="k3s: фиксированный LAN-узел">
            <a:extLst xmlns:a="http://schemas.openxmlformats.org/drawingml/2006/main">
              <a:ext uri="{FF2B5EF4-FFF2-40B4-BE49-F238E27FC236}">
                <a16:creationId xmlns:a16="http://schemas.microsoft.com/office/drawing/2014/main" id="{4D039F68-B9DE-4688-AD57-035A3F827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000250"/>
            <a:ext cx="31527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AAB9D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AAB9D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AAB9D0"/>
                </a:solidFill>
                <a:latin typeface="Arial"/>
                <a:ea typeface="Arial"/>
                <a:cs typeface="Arial"/>
              </a:rPr>
              <a:t>k3s: фиксированный LAN-узел</a:t>
            </a:r>
          </a:p>
        </p:txBody>
      </p:sp>
      <p:sp>
        <p:nvSpPr>
          <p:cNvPr id="5" name="phones">
            <a:extLst xmlns:a="http://schemas.openxmlformats.org/drawingml/2006/main">
              <a:ext uri="{FF2B5EF4-FFF2-40B4-BE49-F238E27FC236}">
                <a16:creationId xmlns:a16="http://schemas.microsoft.com/office/drawing/2014/main" id="{3FFC155A-BA1F-42B2-9819-565B8725B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" y="2819400"/>
            <a:ext cx="2100263" cy="1028700"/>
          </a:xfrm>
          <a:prstGeom xmlns:a="http://schemas.openxmlformats.org/drawingml/2006/main" prst="roundRect">
            <a:avLst>
              <a:gd name="adj" fmla="val 9259"/>
            </a:avLst>
          </a:prstGeom>
          <a:solidFill xmlns:a="http://schemas.openxmlformats.org/drawingml/2006/main">
            <a:srgbClr val="172841"/>
          </a:solidFill>
          <a:ln xmlns:a="http://schemas.openxmlformats.org/drawingml/2006/main" w="19050">
            <a:solidFill>
              <a:srgbClr val="48DDCC"/>
            </a:solidFill>
          </a:ln>
        </p:spPr>
        <p:txBody>
          <a:bodyPr xmlns:a="http://schemas.openxmlformats.org/drawingml/2006/main" lIns="76200" tIns="76200" rIns="76200" bIns="76200" anchor="ctr">
            <a:noAutofit/>
          </a:bodyPr>
          <a:lstStyle xmlns:a="http://schemas.openxmlformats.org/drawingml/2006/main">
            <a:defPPr algn="ctr">
              <a:defRPr sz="1620" b="1">
                <a:solidFill>
                  <a:srgbClr val="F5F7F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620" b="1">
                <a:solidFill>
                  <a:srgbClr val="F5F7FB"/>
                </a:solidFill>
                <a:latin typeface="Arial"/>
                <a:ea typeface="Arial"/>
                <a:cs typeface="Arial"/>
              </a:defRPr>
            </a:pPr>
            <a:r>
              <a:rPr sz="1620" b="1">
                <a:solidFill>
                  <a:srgbClr val="F5F7FB"/>
                </a:solidFill>
                <a:latin typeface="Arial"/>
                <a:ea typeface="Arial"/>
                <a:cs typeface="Arial"/>
              </a:rPr>
              <a:t>10 × Cisco 7945G</a:t>
            </a:r>
          </a:p>
          <a:p xmlns:a="http://schemas.openxmlformats.org/drawingml/2006/main">
            <a:pPr algn="ctr">
              <a:defRPr sz="1620" b="1">
                <a:solidFill>
                  <a:srgbClr val="F5F7FB"/>
                </a:solidFill>
                <a:latin typeface="Arial"/>
                <a:ea typeface="Arial"/>
                <a:cs typeface="Arial"/>
              </a:defRPr>
            </a:pPr>
            <a:r>
              <a:rPr sz="1620" b="1">
                <a:solidFill>
                  <a:srgbClr val="F5F7FB"/>
                </a:solidFill>
                <a:latin typeface="Arial"/>
                <a:ea typeface="Arial"/>
                <a:cs typeface="Arial"/>
              </a:rPr>
              <a:t>PoE 802.3af</a:t>
            </a:r>
          </a:p>
        </p:txBody>
      </p:sp>
      <p:sp>
        <p:nvSpPr>
          <p:cNvPr id="6" name="switch">
            <a:extLst xmlns:a="http://schemas.openxmlformats.org/drawingml/2006/main">
              <a:ext uri="{FF2B5EF4-FFF2-40B4-BE49-F238E27FC236}">
                <a16:creationId xmlns:a16="http://schemas.microsoft.com/office/drawing/2014/main" id="{60569EB5-9740-445B-8FBF-D218F9F97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2819400"/>
            <a:ext cx="2271713" cy="1028700"/>
          </a:xfrm>
          <a:prstGeom xmlns:a="http://schemas.openxmlformats.org/drawingml/2006/main" prst="roundRect">
            <a:avLst>
              <a:gd name="adj" fmla="val 9259"/>
            </a:avLst>
          </a:prstGeom>
          <a:solidFill xmlns:a="http://schemas.openxmlformats.org/drawingml/2006/main">
            <a:srgbClr val="172841"/>
          </a:solidFill>
          <a:ln xmlns:a="http://schemas.openxmlformats.org/drawingml/2006/main" w="19050">
            <a:solidFill>
              <a:srgbClr val="48DDCC"/>
            </a:solidFill>
          </a:ln>
        </p:spPr>
        <p:txBody>
          <a:bodyPr xmlns:a="http://schemas.openxmlformats.org/drawingml/2006/main" lIns="76200" tIns="76200" rIns="76200" bIns="76200" anchor="ctr">
            <a:noAutofit/>
          </a:bodyPr>
          <a:lstStyle xmlns:a="http://schemas.openxmlformats.org/drawingml/2006/main">
            <a:defPPr algn="ctr">
              <a:defRPr sz="1620" b="1">
                <a:solidFill>
                  <a:srgbClr val="F5F7F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620" b="1">
                <a:solidFill>
                  <a:srgbClr val="F5F7FB"/>
                </a:solidFill>
                <a:latin typeface="Arial"/>
                <a:ea typeface="Arial"/>
                <a:cs typeface="Arial"/>
              </a:defRPr>
            </a:pPr>
            <a:r>
              <a:rPr sz="1620" b="1">
                <a:solidFill>
                  <a:srgbClr val="F5F7FB"/>
                </a:solidFill>
                <a:latin typeface="Arial"/>
                <a:ea typeface="Arial"/>
                <a:cs typeface="Arial"/>
              </a:rPr>
              <a:t>Коммутатор PoE</a:t>
            </a:r>
          </a:p>
          <a:p xmlns:a="http://schemas.openxmlformats.org/drawingml/2006/main">
            <a:pPr algn="ctr">
              <a:defRPr sz="1620" b="1">
                <a:solidFill>
                  <a:srgbClr val="F5F7FB"/>
                </a:solidFill>
                <a:latin typeface="Arial"/>
                <a:ea typeface="Arial"/>
                <a:cs typeface="Arial"/>
              </a:defRPr>
            </a:pPr>
            <a:r>
              <a:rPr sz="1620" b="1">
                <a:solidFill>
                  <a:srgbClr val="F5F7FB"/>
                </a:solidFill>
                <a:latin typeface="Arial"/>
                <a:ea typeface="Arial"/>
                <a:cs typeface="Arial"/>
              </a:rPr>
              <a:t>Voice LAN / VLAN</a:t>
            </a:r>
          </a:p>
        </p:txBody>
      </p:sp>
      <p:sp>
        <p:nvSpPr>
          <p:cNvPr id="7" name="router">
            <a:extLst xmlns:a="http://schemas.openxmlformats.org/drawingml/2006/main">
              <a:ext uri="{FF2B5EF4-FFF2-40B4-BE49-F238E27FC236}">
                <a16:creationId xmlns:a16="http://schemas.microsoft.com/office/drawing/2014/main" id="{C7D6EF7E-ACAD-46A3-8594-BF2E38A06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1362075"/>
            <a:ext cx="2271713" cy="8572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172841"/>
          </a:solidFill>
          <a:ln xmlns:a="http://schemas.openxmlformats.org/drawingml/2006/main" w="19050">
            <a:solidFill>
              <a:srgbClr val="F7CB64"/>
            </a:solidFill>
          </a:ln>
        </p:spPr>
        <p:txBody>
          <a:bodyPr xmlns:a="http://schemas.openxmlformats.org/drawingml/2006/main" lIns="76200" tIns="76200" rIns="76200" bIns="76200" anchor="ctr">
            <a:noAutofit/>
          </a:bodyPr>
          <a:lstStyle xmlns:a="http://schemas.openxmlformats.org/drawingml/2006/main">
            <a:defPPr algn="ctr">
              <a:defRPr sz="1620" b="1">
                <a:solidFill>
                  <a:srgbClr val="F5F7F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620" b="1">
                <a:solidFill>
                  <a:srgbClr val="F5F7FB"/>
                </a:solidFill>
                <a:latin typeface="Arial"/>
                <a:ea typeface="Arial"/>
                <a:cs typeface="Arial"/>
              </a:defRPr>
            </a:pPr>
            <a:r>
              <a:rPr sz="1620" b="1">
                <a:solidFill>
                  <a:srgbClr val="F5F7FB"/>
                </a:solidFill>
                <a:latin typeface="Arial"/>
                <a:ea typeface="Arial"/>
                <a:cs typeface="Arial"/>
              </a:rPr>
              <a:t>Маршрутизатор</a:t>
            </a:r>
          </a:p>
          <a:p xmlns:a="http://schemas.openxmlformats.org/drawingml/2006/main">
            <a:pPr algn="ctr">
              <a:defRPr sz="1620" b="1">
                <a:solidFill>
                  <a:srgbClr val="F5F7FB"/>
                </a:solidFill>
                <a:latin typeface="Arial"/>
                <a:ea typeface="Arial"/>
                <a:cs typeface="Arial"/>
              </a:defRPr>
            </a:pPr>
            <a:r>
              <a:rPr sz="1620" b="1">
                <a:solidFill>
                  <a:srgbClr val="F5F7FB"/>
                </a:solidFill>
                <a:latin typeface="Arial"/>
                <a:ea typeface="Arial"/>
                <a:cs typeface="Arial"/>
              </a:rPr>
              <a:t>DHCP option 150</a:t>
            </a:r>
          </a:p>
        </p:txBody>
      </p:sp>
      <p:sp>
        <p:nvSpPr>
          <p:cNvPr id="8" name="ast">
            <a:extLst xmlns:a="http://schemas.openxmlformats.org/drawingml/2006/main">
              <a:ext uri="{FF2B5EF4-FFF2-40B4-BE49-F238E27FC236}">
                <a16:creationId xmlns:a16="http://schemas.microsoft.com/office/drawing/2014/main" id="{6D50C821-188A-4206-8A28-754574C2E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4775" y="2347913"/>
            <a:ext cx="3128963" cy="1114425"/>
          </a:xfrm>
          <a:prstGeom xmlns:a="http://schemas.openxmlformats.org/drawingml/2006/main" prst="roundRect">
            <a:avLst>
              <a:gd name="adj" fmla="val 8547"/>
            </a:avLst>
          </a:prstGeom>
          <a:solidFill xmlns:a="http://schemas.openxmlformats.org/drawingml/2006/main">
            <a:srgbClr val="172841"/>
          </a:solidFill>
          <a:ln xmlns:a="http://schemas.openxmlformats.org/drawingml/2006/main" w="19050">
            <a:solidFill>
              <a:srgbClr val="48DDCC"/>
            </a:solidFill>
          </a:ln>
        </p:spPr>
        <p:txBody>
          <a:bodyPr xmlns:a="http://schemas.openxmlformats.org/drawingml/2006/main" lIns="76200" tIns="76200" rIns="76200" bIns="76200" anchor="ctr">
            <a:noAutofit/>
          </a:bodyPr>
          <a:lstStyle xmlns:a="http://schemas.openxmlformats.org/drawingml/2006/main">
            <a:defPPr algn="ctr">
              <a:defRPr sz="1620" b="1">
                <a:solidFill>
                  <a:srgbClr val="F5F7F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620" b="1">
                <a:solidFill>
                  <a:srgbClr val="F5F7FB"/>
                </a:solidFill>
                <a:latin typeface="Arial"/>
                <a:ea typeface="Arial"/>
                <a:cs typeface="Arial"/>
              </a:defRPr>
            </a:pPr>
            <a:r>
              <a:rPr sz="1620" b="1">
                <a:solidFill>
                  <a:srgbClr val="F5F7FB"/>
                </a:solidFill>
                <a:latin typeface="Arial"/>
                <a:ea typeface="Arial"/>
                <a:cs typeface="Arial"/>
              </a:rPr>
              <a:t>Asterisk / PJSIP</a:t>
            </a:r>
          </a:p>
          <a:p xmlns:a="http://schemas.openxmlformats.org/drawingml/2006/main">
            <a:pPr algn="ctr">
              <a:defRPr sz="1620" b="1">
                <a:solidFill>
                  <a:srgbClr val="F5F7FB"/>
                </a:solidFill>
                <a:latin typeface="Arial"/>
                <a:ea typeface="Arial"/>
                <a:cs typeface="Arial"/>
              </a:defRPr>
            </a:pPr>
            <a:r>
              <a:rPr sz="1620" b="1">
                <a:solidFill>
                  <a:srgbClr val="F5F7FB"/>
                </a:solidFill>
                <a:latin typeface="Arial"/>
                <a:ea typeface="Arial"/>
                <a:cs typeface="Arial"/>
              </a:rPr>
              <a:t>SIP TCP+UDP 5060</a:t>
            </a:r>
          </a:p>
          <a:p xmlns:a="http://schemas.openxmlformats.org/drawingml/2006/main">
            <a:pPr algn="ctr">
              <a:defRPr sz="1620" b="1">
                <a:solidFill>
                  <a:srgbClr val="F5F7FB"/>
                </a:solidFill>
                <a:latin typeface="Arial"/>
                <a:ea typeface="Arial"/>
                <a:cs typeface="Arial"/>
              </a:defRPr>
            </a:pPr>
            <a:r>
              <a:rPr sz="1620" b="1">
                <a:solidFill>
                  <a:srgbClr val="F5F7FB"/>
                </a:solidFill>
                <a:latin typeface="Arial"/>
                <a:ea typeface="Arial"/>
                <a:cs typeface="Arial"/>
              </a:rPr>
              <a:t>RTP UDP 10000–10199</a:t>
            </a:r>
          </a:p>
        </p:txBody>
      </p:sp>
      <p:sp>
        <p:nvSpPr>
          <p:cNvPr id="9" name="tftp">
            <a:extLst xmlns:a="http://schemas.openxmlformats.org/drawingml/2006/main">
              <a:ext uri="{FF2B5EF4-FFF2-40B4-BE49-F238E27FC236}">
                <a16:creationId xmlns:a16="http://schemas.microsoft.com/office/drawing/2014/main" id="{0D49CB5B-D3DA-4126-81DB-3E50DE26B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4775" y="4148138"/>
            <a:ext cx="3128963" cy="900113"/>
          </a:xfrm>
          <a:prstGeom xmlns:a="http://schemas.openxmlformats.org/drawingml/2006/main" prst="roundRect">
            <a:avLst>
              <a:gd name="adj" fmla="val 10582"/>
            </a:avLst>
          </a:prstGeom>
          <a:solidFill xmlns:a="http://schemas.openxmlformats.org/drawingml/2006/main">
            <a:srgbClr val="172841"/>
          </a:solidFill>
          <a:ln xmlns:a="http://schemas.openxmlformats.org/drawingml/2006/main" w="19050">
            <a:solidFill>
              <a:srgbClr val="FF836D"/>
            </a:solidFill>
          </a:ln>
        </p:spPr>
        <p:txBody>
          <a:bodyPr xmlns:a="http://schemas.openxmlformats.org/drawingml/2006/main" lIns="76200" tIns="76200" rIns="76200" bIns="76200" anchor="ctr">
            <a:noAutofit/>
          </a:bodyPr>
          <a:lstStyle xmlns:a="http://schemas.openxmlformats.org/drawingml/2006/main">
            <a:defPPr algn="ctr">
              <a:defRPr sz="1620" b="1">
                <a:solidFill>
                  <a:srgbClr val="F5F7F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620" b="1">
                <a:solidFill>
                  <a:srgbClr val="F5F7FB"/>
                </a:solidFill>
                <a:latin typeface="Arial"/>
                <a:ea typeface="Arial"/>
                <a:cs typeface="Arial"/>
              </a:defRPr>
            </a:pPr>
            <a:r>
              <a:rPr sz="1620" b="1">
                <a:solidFill>
                  <a:srgbClr val="F5F7FB"/>
                </a:solidFill>
                <a:latin typeface="Arial"/>
                <a:ea typeface="Arial"/>
                <a:cs typeface="Arial"/>
              </a:rPr>
              <a:t>TFTP временно</a:t>
            </a:r>
          </a:p>
          <a:p xmlns:a="http://schemas.openxmlformats.org/drawingml/2006/main">
            <a:pPr algn="ctr">
              <a:defRPr sz="1620" b="1">
                <a:solidFill>
                  <a:srgbClr val="F5F7FB"/>
                </a:solidFill>
                <a:latin typeface="Arial"/>
                <a:ea typeface="Arial"/>
                <a:cs typeface="Arial"/>
              </a:defRPr>
            </a:pPr>
            <a:r>
              <a:rPr sz="1620" b="1">
                <a:solidFill>
                  <a:srgbClr val="F5F7FB"/>
                </a:solidFill>
                <a:latin typeface="Arial"/>
                <a:ea typeface="Arial"/>
                <a:cs typeface="Arial"/>
              </a:rPr>
              <a:t>UDP 69 + 20000–20031</a:t>
            </a:r>
          </a:p>
        </p:txBody>
      </p:sp>
      <p:sp>
        <p:nvSpPr>
          <p:cNvPr id="12" name="DHCP">
            <a:extLst xmlns:a="http://schemas.openxmlformats.org/drawingml/2006/main">
              <a:ext uri="{FF2B5EF4-FFF2-40B4-BE49-F238E27FC236}">
                <a16:creationId xmlns:a16="http://schemas.microsoft.com/office/drawing/2014/main" id="{CCD0E573-803F-4957-994C-A7AA2574A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2324100"/>
            <a:ext cx="95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350" b="0">
                <a:solidFill>
                  <a:srgbClr val="F7CB6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350" b="0">
                <a:solidFill>
                  <a:srgbClr val="F7CB64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7CB64"/>
                </a:solidFill>
                <a:latin typeface="Arial"/>
                <a:ea typeface="Arial"/>
                <a:cs typeface="Arial"/>
              </a:rPr>
              <a:t>DHCP</a:t>
            </a:r>
          </a:p>
        </p:txBody>
      </p:sp>
      <p:sp>
        <p:nvSpPr>
          <p:cNvPr id="14" name="SIP + RTP">
            <a:extLst xmlns:a="http://schemas.openxmlformats.org/drawingml/2006/main">
              <a:ext uri="{FF2B5EF4-FFF2-40B4-BE49-F238E27FC236}">
                <a16:creationId xmlns:a16="http://schemas.microsoft.com/office/drawing/2014/main" id="{8A3DF65A-1320-43FA-8254-C0EA9CB0E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505075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350" b="0">
                <a:solidFill>
                  <a:srgbClr val="48DDC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350" b="0">
                <a:solidFill>
                  <a:srgbClr val="48DDC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48DDCC"/>
                </a:solidFill>
                <a:latin typeface="Arial"/>
                <a:ea typeface="Arial"/>
                <a:cs typeface="Arial"/>
              </a:rPr>
              <a:t>SIP + RTP</a:t>
            </a:r>
          </a:p>
        </p:txBody>
      </p:sp>
      <p:sp>
        <p:nvSpPr>
          <p:cNvPr id="16" name="загрузка">
            <a:extLst xmlns:a="http://schemas.openxmlformats.org/drawingml/2006/main">
              <a:ext uri="{FF2B5EF4-FFF2-40B4-BE49-F238E27FC236}">
                <a16:creationId xmlns:a16="http://schemas.microsoft.com/office/drawing/2014/main" id="{EA15B3D5-EC52-462D-9ECF-72788D19A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3714750"/>
            <a:ext cx="1428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350" b="0">
                <a:solidFill>
                  <a:srgbClr val="FF836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350" b="0">
                <a:solidFill>
                  <a:srgbClr val="FF836D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F836D"/>
                </a:solidFill>
                <a:latin typeface="Arial"/>
                <a:ea typeface="Arial"/>
                <a:cs typeface="Arial"/>
              </a:rPr>
              <a:t>загрузка</a:t>
            </a:r>
          </a:p>
        </p:txBody>
      </p:sp>
      <p:sp>
        <p:nvSpPr>
          <p:cNvPr id="17" name="hostNetwork  /  одна реплика Asterisk  /  постоянный LAN IP  /  б">
            <a:extLst xmlns:a="http://schemas.openxmlformats.org/drawingml/2006/main">
              <a:ext uri="{FF2B5EF4-FFF2-40B4-BE49-F238E27FC236}">
                <a16:creationId xmlns:a16="http://schemas.microsoft.com/office/drawing/2014/main" id="{221081D1-D959-462B-8139-97C5B909C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53125"/>
            <a:ext cx="10191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AAB9D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AAB9D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AAB9D0"/>
                </a:solidFill>
                <a:latin typeface="Arial"/>
                <a:ea typeface="Arial"/>
                <a:cs typeface="Arial"/>
              </a:rPr>
              <a:t>hostNetwork  /  одна реплика Asterisk  /  постоянный LAN IP  /  без Ingress для SIP/RTP</a:t>
            </a:r>
          </a:p>
        </p:txBody>
      </p:sp>
    </p:spTree>
    <p:extLst>
      <p:ext uri="{BB962C8B-B14F-4D97-AF65-F5344CB8AC3E}">
        <p14:creationId xmlns:p14="http://schemas.microsoft.com/office/powerpoint/2010/main" val="105412824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101C3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Сеть для сигнализации и голоса">
            <a:extLst xmlns:a="http://schemas.openxmlformats.org/drawingml/2006/main">
              <a:ext uri="{FF2B5EF4-FFF2-40B4-BE49-F238E27FC236}">
                <a16:creationId xmlns:a16="http://schemas.microsoft.com/office/drawing/2014/main" id="{342D0041-40D7-4E93-9137-106B0C2CC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19100"/>
            <a:ext cx="1095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75" b="1">
                <a:solidFill>
                  <a:srgbClr val="F5F7F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3375" b="1">
                <a:solidFill>
                  <a:srgbClr val="F5F7FB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F5F7FB"/>
                </a:solidFill>
                <a:latin typeface="Arial"/>
                <a:ea typeface="Arial"/>
                <a:cs typeface="Arial"/>
              </a:rPr>
              <a:t>Сеть для сигнализации и голоса</a:t>
            </a:r>
          </a:p>
        </p:txBody>
      </p:sp>
      <p:sp>
        <p:nvSpPr>
          <p:cNvPr id="2" name="04">
            <a:extLst xmlns:a="http://schemas.openxmlformats.org/drawingml/2006/main">
              <a:ext uri="{FF2B5EF4-FFF2-40B4-BE49-F238E27FC236}">
                <a16:creationId xmlns:a16="http://schemas.microsoft.com/office/drawing/2014/main" id="{7DD993B8-FCA0-4F44-8B04-F20EC3B05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AAB9D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AAB9D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AAB9D0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3" name="5060">
            <a:extLst xmlns:a="http://schemas.openxmlformats.org/drawingml/2006/main">
              <a:ext uri="{FF2B5EF4-FFF2-40B4-BE49-F238E27FC236}">
                <a16:creationId xmlns:a16="http://schemas.microsoft.com/office/drawing/2014/main" id="{60CB92F0-7B07-4E31-AD2E-DA746876D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14500"/>
            <a:ext cx="4714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225" b="1">
                <a:solidFill>
                  <a:srgbClr val="48DDC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3225" b="1">
                <a:solidFill>
                  <a:srgbClr val="48DDCC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48DDCC"/>
                </a:solidFill>
                <a:latin typeface="Arial"/>
                <a:ea typeface="Arial"/>
                <a:cs typeface="Arial"/>
              </a:rPr>
              <a:t>5060</a:t>
            </a:r>
          </a:p>
        </p:txBody>
      </p:sp>
      <p:sp>
        <p:nvSpPr>
          <p:cNvPr id="4" name="TCP + UDP">
            <a:extLst xmlns:a="http://schemas.openxmlformats.org/drawingml/2006/main">
              <a:ext uri="{FF2B5EF4-FFF2-40B4-BE49-F238E27FC236}">
                <a16:creationId xmlns:a16="http://schemas.microsoft.com/office/drawing/2014/main" id="{F2B9FDBC-440A-4DCA-BC6B-04778250E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1781175"/>
            <a:ext cx="2000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F5F7F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100" b="0">
                <a:solidFill>
                  <a:srgbClr val="F5F7FB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F5F7FB"/>
                </a:solidFill>
                <a:latin typeface="Arial"/>
                <a:ea typeface="Arial"/>
                <a:cs typeface="Arial"/>
              </a:rPr>
              <a:t>TCP + UDP</a:t>
            </a:r>
          </a:p>
        </p:txBody>
      </p:sp>
      <p:sp>
        <p:nvSpPr>
          <p:cNvPr id="5" name="SIP / регистрация">
            <a:extLst xmlns:a="http://schemas.openxmlformats.org/drawingml/2006/main">
              <a:ext uri="{FF2B5EF4-FFF2-40B4-BE49-F238E27FC236}">
                <a16:creationId xmlns:a16="http://schemas.microsoft.com/office/drawing/2014/main" id="{4A163FB7-56F4-4B15-B776-3E9743FD9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1781175"/>
            <a:ext cx="3905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AAB9D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100" b="0">
                <a:solidFill>
                  <a:srgbClr val="AAB9D0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AAB9D0"/>
                </a:solidFill>
                <a:latin typeface="Arial"/>
                <a:ea typeface="Arial"/>
                <a:cs typeface="Arial"/>
              </a:rPr>
              <a:t>SIP / регистрация</a:t>
            </a:r>
          </a:p>
        </p:txBody>
      </p:sp>
      <p:sp>
        <p:nvSpPr>
          <p:cNvPr id="6" name="10000–10199">
            <a:extLst xmlns:a="http://schemas.openxmlformats.org/drawingml/2006/main">
              <a:ext uri="{FF2B5EF4-FFF2-40B4-BE49-F238E27FC236}">
                <a16:creationId xmlns:a16="http://schemas.microsoft.com/office/drawing/2014/main" id="{C8244D03-023B-44FD-B792-57BD1C15B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52750"/>
            <a:ext cx="4714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225" b="1">
                <a:solidFill>
                  <a:srgbClr val="48DDC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3225" b="1">
                <a:solidFill>
                  <a:srgbClr val="48DDCC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48DDCC"/>
                </a:solidFill>
                <a:latin typeface="Arial"/>
                <a:ea typeface="Arial"/>
                <a:cs typeface="Arial"/>
              </a:rPr>
              <a:t>10000–10199</a:t>
            </a:r>
          </a:p>
        </p:txBody>
      </p:sp>
      <p:sp>
        <p:nvSpPr>
          <p:cNvPr id="7" name="UDP">
            <a:extLst xmlns:a="http://schemas.openxmlformats.org/drawingml/2006/main">
              <a:ext uri="{FF2B5EF4-FFF2-40B4-BE49-F238E27FC236}">
                <a16:creationId xmlns:a16="http://schemas.microsoft.com/office/drawing/2014/main" id="{5A047A1A-1C88-48E2-B1CC-53257A5FF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3019425"/>
            <a:ext cx="2000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F5F7F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100" b="0">
                <a:solidFill>
                  <a:srgbClr val="F5F7FB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F5F7FB"/>
                </a:solidFill>
                <a:latin typeface="Arial"/>
                <a:ea typeface="Arial"/>
                <a:cs typeface="Arial"/>
              </a:rPr>
              <a:t>UDP</a:t>
            </a:r>
          </a:p>
        </p:txBody>
      </p:sp>
      <p:sp>
        <p:nvSpPr>
          <p:cNvPr id="8" name="RTP / голос">
            <a:extLst xmlns:a="http://schemas.openxmlformats.org/drawingml/2006/main">
              <a:ext uri="{FF2B5EF4-FFF2-40B4-BE49-F238E27FC236}">
                <a16:creationId xmlns:a16="http://schemas.microsoft.com/office/drawing/2014/main" id="{26BBDCFE-67A0-4739-A18A-54D7F993E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3019425"/>
            <a:ext cx="3905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AAB9D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100" b="0">
                <a:solidFill>
                  <a:srgbClr val="AAB9D0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AAB9D0"/>
                </a:solidFill>
                <a:latin typeface="Arial"/>
                <a:ea typeface="Arial"/>
                <a:cs typeface="Arial"/>
              </a:rPr>
              <a:t>RTP / голос</a:t>
            </a:r>
          </a:p>
        </p:txBody>
      </p:sp>
      <p:sp>
        <p:nvSpPr>
          <p:cNvPr id="9" name="69 + 20000–20031">
            <a:extLst xmlns:a="http://schemas.openxmlformats.org/drawingml/2006/main">
              <a:ext uri="{FF2B5EF4-FFF2-40B4-BE49-F238E27FC236}">
                <a16:creationId xmlns:a16="http://schemas.microsoft.com/office/drawing/2014/main" id="{A662EC56-6F37-43D6-AA24-FDF6EC950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191000"/>
            <a:ext cx="4714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700" b="1">
                <a:solidFill>
                  <a:srgbClr val="FF836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700" b="1">
                <a:solidFill>
                  <a:srgbClr val="FF836D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FF836D"/>
                </a:solidFill>
                <a:latin typeface="Arial"/>
                <a:ea typeface="Arial"/>
                <a:cs typeface="Arial"/>
              </a:rPr>
              <a:t>69 + 20000–20031</a:t>
            </a:r>
          </a:p>
        </p:txBody>
      </p:sp>
      <p:sp>
        <p:nvSpPr>
          <p:cNvPr id="10" name="UDP">
            <a:extLst xmlns:a="http://schemas.openxmlformats.org/drawingml/2006/main">
              <a:ext uri="{FF2B5EF4-FFF2-40B4-BE49-F238E27FC236}">
                <a16:creationId xmlns:a16="http://schemas.microsoft.com/office/drawing/2014/main" id="{9AD79342-8218-4C40-ABC1-FE519E31E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4257675"/>
            <a:ext cx="2000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F5F7F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100" b="0">
                <a:solidFill>
                  <a:srgbClr val="F5F7FB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F5F7FB"/>
                </a:solidFill>
                <a:latin typeface="Arial"/>
                <a:ea typeface="Arial"/>
                <a:cs typeface="Arial"/>
              </a:rPr>
              <a:t>UDP</a:t>
            </a:r>
          </a:p>
        </p:txBody>
      </p:sp>
      <p:sp>
        <p:nvSpPr>
          <p:cNvPr id="11" name="TFTP / временно">
            <a:extLst xmlns:a="http://schemas.openxmlformats.org/drawingml/2006/main">
              <a:ext uri="{FF2B5EF4-FFF2-40B4-BE49-F238E27FC236}">
                <a16:creationId xmlns:a16="http://schemas.microsoft.com/office/drawing/2014/main" id="{817D9182-E6F3-49A0-8EFE-DD7D3911F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4257675"/>
            <a:ext cx="3905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AAB9D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100" b="0">
                <a:solidFill>
                  <a:srgbClr val="AAB9D0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AAB9D0"/>
                </a:solidFill>
                <a:latin typeface="Arial"/>
                <a:ea typeface="Arial"/>
                <a:cs typeface="Arial"/>
              </a:rPr>
              <a:t>TFTP / временно</a:t>
            </a:r>
          </a:p>
        </p:txBody>
      </p:sp>
      <p:sp>
        <p:nvSpPr>
          <p:cNvPr id="12" name="Host firewall разрешает телефонную LAN/VLAN. SIP и TFTP не публик">
            <a:extLst xmlns:a="http://schemas.openxmlformats.org/drawingml/2006/main">
              <a:ext uri="{FF2B5EF4-FFF2-40B4-BE49-F238E27FC236}">
                <a16:creationId xmlns:a16="http://schemas.microsoft.com/office/drawing/2014/main" id="{77AF7EFF-1F5C-4B83-A027-BCB2F9CA6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53125"/>
            <a:ext cx="10191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AAB9D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AAB9D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AAB9D0"/>
                </a:solidFill>
                <a:latin typeface="Arial"/>
                <a:ea typeface="Arial"/>
                <a:cs typeface="Arial"/>
              </a:rPr>
              <a:t>Host firewall разрешает телефонную LAN/VLAN. SIP и TFTP не публикуются в интернет.</a:t>
            </a:r>
          </a:p>
        </p:txBody>
      </p:sp>
    </p:spTree>
    <p:extLst>
      <p:ext uri="{BB962C8B-B14F-4D97-AF65-F5344CB8AC3E}">
        <p14:creationId xmlns:p14="http://schemas.microsoft.com/office/powerpoint/2010/main" val="14743370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101C3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44DF720-A6FE-4360-8471-2EB54DF6C190}"/>
              </a:ext>
            </a:extLst>
          </p:cNvPr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7296150" y="4598194"/>
            <a:ext cx="10287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48DDCC"/>
            </a:solidFill>
            <a:tailEnd type="triangle" w="sm" len="sm"/>
          </a:ln>
        </p:spPr>
      </p:cxnSp>
      <p:cxnSp>
        <p:nvCxn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093AAE1-61BD-43A7-AE2E-A4803AD30582}"/>
              </a:ext>
            </a:extLst>
          </p:cNvPr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3695700" y="4598194"/>
            <a:ext cx="10287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F7CB64"/>
            </a:solidFill>
            <a:tailEnd type="triangle" w="sm" len="sm"/>
          </a:ln>
        </p:spPr>
      </p:cxnSp>
      <p:cxnSp>
        <p:nvCxn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CA79932-F5AC-43EF-9084-FD4A9CAFBBA2}"/>
              </a:ext>
            </a:extLst>
          </p:cNvPr>
          <p:cNvCxnSpPr>
            <a:stCxn xmlns:a="http://schemas.openxmlformats.org/drawingml/2006/main" id="3" idx="3"/>
            <a:endCxn xmlns:a="http://schemas.openxmlformats.org/drawingml/2006/main" id="4" idx="1"/>
          </p:cNvCxnSpPr>
          <p:nvPr/>
        </p:nvCxnSpPr>
        <p:spPr>
          <a:xfrm xmlns:a="http://schemas.openxmlformats.org/drawingml/2006/main">
            <a:off x="3695700" y="2433638"/>
            <a:ext cx="46291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48DDCC"/>
            </a:solidFill>
            <a:tailEnd type="triangle" w="sm" len="sm"/>
          </a:ln>
        </p:spPr>
      </p:cxnSp>
      <p:sp>
        <p:nvSpPr>
          <p:cNvPr id="15" name="7945G поддерживает PoE без переделки">
            <a:extLst xmlns:a="http://schemas.openxmlformats.org/drawingml/2006/main">
              <a:ext uri="{FF2B5EF4-FFF2-40B4-BE49-F238E27FC236}">
                <a16:creationId xmlns:a16="http://schemas.microsoft.com/office/drawing/2014/main" id="{547F0F52-84D3-4D49-BE2F-D777FE95C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19100"/>
            <a:ext cx="1095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75" b="1">
                <a:solidFill>
                  <a:srgbClr val="F5F7F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3375" b="1">
                <a:solidFill>
                  <a:srgbClr val="F5F7FB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F5F7FB"/>
                </a:solidFill>
                <a:latin typeface="Arial"/>
                <a:ea typeface="Arial"/>
                <a:cs typeface="Arial"/>
              </a:rPr>
              <a:t>7945G поддерживает PoE без переделки</a:t>
            </a:r>
          </a:p>
        </p:txBody>
      </p:sp>
      <p:sp>
        <p:nvSpPr>
          <p:cNvPr id="2" name="05">
            <a:extLst xmlns:a="http://schemas.openxmlformats.org/drawingml/2006/main">
              <a:ext uri="{FF2B5EF4-FFF2-40B4-BE49-F238E27FC236}">
                <a16:creationId xmlns:a16="http://schemas.microsoft.com/office/drawing/2014/main" id="{0E86C75E-78D0-487D-A50C-79DDC5485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AAB9D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AAB9D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AAB9D0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3" name="poe">
            <a:extLst xmlns:a="http://schemas.openxmlformats.org/drawingml/2006/main">
              <a:ext uri="{FF2B5EF4-FFF2-40B4-BE49-F238E27FC236}">
                <a16:creationId xmlns:a16="http://schemas.microsoft.com/office/drawing/2014/main" id="{17DA3DC2-73B6-417E-8868-60F27BE2E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919288"/>
            <a:ext cx="2571750" cy="1028700"/>
          </a:xfrm>
          <a:prstGeom xmlns:a="http://schemas.openxmlformats.org/drawingml/2006/main" prst="roundRect">
            <a:avLst>
              <a:gd name="adj" fmla="val 9259"/>
            </a:avLst>
          </a:prstGeom>
          <a:solidFill xmlns:a="http://schemas.openxmlformats.org/drawingml/2006/main">
            <a:srgbClr val="172841"/>
          </a:solidFill>
          <a:ln xmlns:a="http://schemas.openxmlformats.org/drawingml/2006/main" w="19050">
            <a:solidFill>
              <a:srgbClr val="48DDCC"/>
            </a:solidFill>
          </a:ln>
        </p:spPr>
        <p:txBody>
          <a:bodyPr xmlns:a="http://schemas.openxmlformats.org/drawingml/2006/main" lIns="76200" tIns="76200" rIns="76200" bIns="76200" anchor="ctr">
            <a:noAutofit/>
          </a:bodyPr>
          <a:lstStyle xmlns:a="http://schemas.openxmlformats.org/drawingml/2006/main">
            <a:defPPr algn="ctr">
              <a:defRPr sz="1620" b="1">
                <a:solidFill>
                  <a:srgbClr val="F5F7F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620" b="1">
                <a:solidFill>
                  <a:srgbClr val="F5F7FB"/>
                </a:solidFill>
                <a:latin typeface="Arial"/>
                <a:ea typeface="Arial"/>
                <a:cs typeface="Arial"/>
              </a:defRPr>
            </a:pPr>
            <a:r>
              <a:rPr sz="1620" b="1">
                <a:solidFill>
                  <a:srgbClr val="F5F7FB"/>
                </a:solidFill>
                <a:latin typeface="Arial"/>
                <a:ea typeface="Arial"/>
                <a:cs typeface="Arial"/>
              </a:rPr>
              <a:t>PoE-коммутатор</a:t>
            </a:r>
          </a:p>
          <a:p xmlns:a="http://schemas.openxmlformats.org/drawingml/2006/main">
            <a:pPr algn="ctr">
              <a:defRPr sz="1620" b="1">
                <a:solidFill>
                  <a:srgbClr val="F5F7FB"/>
                </a:solidFill>
                <a:latin typeface="Arial"/>
                <a:ea typeface="Arial"/>
                <a:cs typeface="Arial"/>
              </a:defRPr>
            </a:pPr>
            <a:r>
              <a:rPr sz="1620" b="1">
                <a:solidFill>
                  <a:srgbClr val="F5F7FB"/>
                </a:solidFill>
                <a:latin typeface="Arial"/>
                <a:ea typeface="Arial"/>
                <a:cs typeface="Arial"/>
              </a:rPr>
              <a:t>IEEE 802.3af</a:t>
            </a:r>
          </a:p>
        </p:txBody>
      </p:sp>
      <p:sp>
        <p:nvSpPr>
          <p:cNvPr id="4" name="phone1">
            <a:extLst xmlns:a="http://schemas.openxmlformats.org/drawingml/2006/main">
              <a:ext uri="{FF2B5EF4-FFF2-40B4-BE49-F238E27FC236}">
                <a16:creationId xmlns:a16="http://schemas.microsoft.com/office/drawing/2014/main" id="{237304A5-4F8F-4684-B5BC-36016D25F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1919288"/>
            <a:ext cx="2657475" cy="1028700"/>
          </a:xfrm>
          <a:prstGeom xmlns:a="http://schemas.openxmlformats.org/drawingml/2006/main" prst="roundRect">
            <a:avLst>
              <a:gd name="adj" fmla="val 9259"/>
            </a:avLst>
          </a:prstGeom>
          <a:solidFill xmlns:a="http://schemas.openxmlformats.org/drawingml/2006/main">
            <a:srgbClr val="172841"/>
          </a:solidFill>
          <a:ln xmlns:a="http://schemas.openxmlformats.org/drawingml/2006/main" w="19050">
            <a:solidFill>
              <a:srgbClr val="48DDCC"/>
            </a:solidFill>
          </a:ln>
        </p:spPr>
        <p:txBody>
          <a:bodyPr xmlns:a="http://schemas.openxmlformats.org/drawingml/2006/main" lIns="76200" tIns="76200" rIns="76200" bIns="76200" anchor="ctr">
            <a:noAutofit/>
          </a:bodyPr>
          <a:lstStyle xmlns:a="http://schemas.openxmlformats.org/drawingml/2006/main">
            <a:defPPr algn="ctr">
              <a:defRPr sz="1620" b="1">
                <a:solidFill>
                  <a:srgbClr val="F5F7F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620" b="1">
                <a:solidFill>
                  <a:srgbClr val="F5F7FB"/>
                </a:solidFill>
                <a:latin typeface="Arial"/>
                <a:ea typeface="Arial"/>
                <a:cs typeface="Arial"/>
              </a:defRPr>
            </a:pPr>
            <a:r>
              <a:rPr sz="1620" b="1">
                <a:solidFill>
                  <a:srgbClr val="F5F7FB"/>
                </a:solidFill>
                <a:latin typeface="Arial"/>
                <a:ea typeface="Arial"/>
                <a:cs typeface="Arial"/>
              </a:rPr>
              <a:t>Cisco 7945G</a:t>
            </a:r>
          </a:p>
          <a:p xmlns:a="http://schemas.openxmlformats.org/drawingml/2006/main">
            <a:pPr algn="ctr">
              <a:defRPr sz="1620" b="1">
                <a:solidFill>
                  <a:srgbClr val="F5F7FB"/>
                </a:solidFill>
                <a:latin typeface="Arial"/>
                <a:ea typeface="Arial"/>
                <a:cs typeface="Arial"/>
              </a:defRPr>
            </a:pPr>
            <a:r>
              <a:rPr sz="1620" b="1">
                <a:solidFill>
                  <a:srgbClr val="F5F7FB"/>
                </a:solidFill>
                <a:latin typeface="Arial"/>
                <a:ea typeface="Arial"/>
                <a:cs typeface="Arial"/>
              </a:rPr>
              <a:t>порт SW / Network</a:t>
            </a:r>
          </a:p>
        </p:txBody>
      </p:sp>
      <p:sp>
        <p:nvSpPr>
          <p:cNvPr id="5" name="lan">
            <a:extLst xmlns:a="http://schemas.openxmlformats.org/drawingml/2006/main">
              <a:ext uri="{FF2B5EF4-FFF2-40B4-BE49-F238E27FC236}">
                <a16:creationId xmlns:a16="http://schemas.microsoft.com/office/drawing/2014/main" id="{9EDD097D-B855-4229-9E03-D343D01EA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105275"/>
            <a:ext cx="2571750" cy="985838"/>
          </a:xfrm>
          <a:prstGeom xmlns:a="http://schemas.openxmlformats.org/drawingml/2006/main" prst="roundRect">
            <a:avLst>
              <a:gd name="adj" fmla="val 9662"/>
            </a:avLst>
          </a:prstGeom>
          <a:solidFill xmlns:a="http://schemas.openxmlformats.org/drawingml/2006/main">
            <a:srgbClr val="172841"/>
          </a:solidFill>
          <a:ln xmlns:a="http://schemas.openxmlformats.org/drawingml/2006/main" w="19050">
            <a:solidFill>
              <a:srgbClr val="F7CB64"/>
            </a:solidFill>
          </a:ln>
        </p:spPr>
        <p:txBody>
          <a:bodyPr xmlns:a="http://schemas.openxmlformats.org/drawingml/2006/main" lIns="76200" tIns="76200" rIns="76200" bIns="76200" anchor="ctr">
            <a:noAutofit/>
          </a:bodyPr>
          <a:lstStyle xmlns:a="http://schemas.openxmlformats.org/drawingml/2006/main">
            <a:defPPr algn="ctr">
              <a:defRPr sz="1620" b="1">
                <a:solidFill>
                  <a:srgbClr val="F5F7F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620" b="1">
                <a:solidFill>
                  <a:srgbClr val="F5F7FB"/>
                </a:solidFill>
                <a:latin typeface="Arial"/>
                <a:ea typeface="Arial"/>
                <a:cs typeface="Arial"/>
              </a:defRPr>
            </a:pPr>
            <a:r>
              <a:rPr sz="1620" b="1">
                <a:solidFill>
                  <a:srgbClr val="F5F7FB"/>
                </a:solidFill>
                <a:latin typeface="Arial"/>
                <a:ea typeface="Arial"/>
                <a:cs typeface="Arial"/>
              </a:rPr>
              <a:t>Обычный коммутатор</a:t>
            </a:r>
          </a:p>
          <a:p xmlns:a="http://schemas.openxmlformats.org/drawingml/2006/main">
            <a:pPr algn="ctr">
              <a:defRPr sz="1620" b="1">
                <a:solidFill>
                  <a:srgbClr val="F5F7FB"/>
                </a:solidFill>
                <a:latin typeface="Arial"/>
                <a:ea typeface="Arial"/>
                <a:cs typeface="Arial"/>
              </a:defRPr>
            </a:pPr>
            <a:r>
              <a:rPr sz="1620" b="1">
                <a:solidFill>
                  <a:srgbClr val="F5F7FB"/>
                </a:solidFill>
                <a:latin typeface="Arial"/>
                <a:ea typeface="Arial"/>
                <a:cs typeface="Arial"/>
              </a:rPr>
              <a:t>Ethernet</a:t>
            </a:r>
          </a:p>
        </p:txBody>
      </p:sp>
      <p:sp>
        <p:nvSpPr>
          <p:cNvPr id="6" name="injector">
            <a:extLst xmlns:a="http://schemas.openxmlformats.org/drawingml/2006/main">
              <a:ext uri="{FF2B5EF4-FFF2-40B4-BE49-F238E27FC236}">
                <a16:creationId xmlns:a16="http://schemas.microsoft.com/office/drawing/2014/main" id="{98BED1DE-BCCC-40DA-837B-C4796CB08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4105275"/>
            <a:ext cx="2571750" cy="985838"/>
          </a:xfrm>
          <a:prstGeom xmlns:a="http://schemas.openxmlformats.org/drawingml/2006/main" prst="roundRect">
            <a:avLst>
              <a:gd name="adj" fmla="val 9662"/>
            </a:avLst>
          </a:prstGeom>
          <a:solidFill xmlns:a="http://schemas.openxmlformats.org/drawingml/2006/main">
            <a:srgbClr val="172841"/>
          </a:solidFill>
          <a:ln xmlns:a="http://schemas.openxmlformats.org/drawingml/2006/main" w="19050">
            <a:solidFill>
              <a:srgbClr val="FF836D"/>
            </a:solidFill>
          </a:ln>
        </p:spPr>
        <p:txBody>
          <a:bodyPr xmlns:a="http://schemas.openxmlformats.org/drawingml/2006/main" lIns="76200" tIns="76200" rIns="76200" bIns="76200" anchor="ctr">
            <a:noAutofit/>
          </a:bodyPr>
          <a:lstStyle xmlns:a="http://schemas.openxmlformats.org/drawingml/2006/main">
            <a:defPPr algn="ctr">
              <a:defRPr sz="1620" b="1">
                <a:solidFill>
                  <a:srgbClr val="F5F7F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620" b="1">
                <a:solidFill>
                  <a:srgbClr val="F5F7FB"/>
                </a:solidFill>
                <a:latin typeface="Arial"/>
                <a:ea typeface="Arial"/>
                <a:cs typeface="Arial"/>
              </a:defRPr>
            </a:pPr>
            <a:r>
              <a:rPr sz="1620" b="1">
                <a:solidFill>
                  <a:srgbClr val="F5F7FB"/>
                </a:solidFill>
                <a:latin typeface="Arial"/>
                <a:ea typeface="Arial"/>
                <a:cs typeface="Arial"/>
              </a:rPr>
              <a:t>Активный инжектор</a:t>
            </a:r>
          </a:p>
          <a:p xmlns:a="http://schemas.openxmlformats.org/drawingml/2006/main">
            <a:pPr algn="ctr">
              <a:defRPr sz="1620" b="1">
                <a:solidFill>
                  <a:srgbClr val="F5F7FB"/>
                </a:solidFill>
                <a:latin typeface="Arial"/>
                <a:ea typeface="Arial"/>
                <a:cs typeface="Arial"/>
              </a:defRPr>
            </a:pPr>
            <a:r>
              <a:rPr sz="1620" b="1">
                <a:solidFill>
                  <a:srgbClr val="F5F7FB"/>
                </a:solidFill>
                <a:latin typeface="Arial"/>
                <a:ea typeface="Arial"/>
                <a:cs typeface="Arial"/>
              </a:rPr>
              <a:t>IEEE 802.3af</a:t>
            </a:r>
          </a:p>
        </p:txBody>
      </p:sp>
      <p:sp>
        <p:nvSpPr>
          <p:cNvPr id="7" name="phone2">
            <a:extLst xmlns:a="http://schemas.openxmlformats.org/drawingml/2006/main">
              <a:ext uri="{FF2B5EF4-FFF2-40B4-BE49-F238E27FC236}">
                <a16:creationId xmlns:a16="http://schemas.microsoft.com/office/drawing/2014/main" id="{9FBDFF34-C1DB-4105-99F0-97C6BA564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4105275"/>
            <a:ext cx="2657475" cy="985838"/>
          </a:xfrm>
          <a:prstGeom xmlns:a="http://schemas.openxmlformats.org/drawingml/2006/main" prst="roundRect">
            <a:avLst>
              <a:gd name="adj" fmla="val 9662"/>
            </a:avLst>
          </a:prstGeom>
          <a:solidFill xmlns:a="http://schemas.openxmlformats.org/drawingml/2006/main">
            <a:srgbClr val="172841"/>
          </a:solidFill>
          <a:ln xmlns:a="http://schemas.openxmlformats.org/drawingml/2006/main" w="19050">
            <a:solidFill>
              <a:srgbClr val="48DDCC"/>
            </a:solidFill>
          </a:ln>
        </p:spPr>
        <p:txBody>
          <a:bodyPr xmlns:a="http://schemas.openxmlformats.org/drawingml/2006/main" lIns="76200" tIns="76200" rIns="76200" bIns="76200" anchor="ctr">
            <a:noAutofit/>
          </a:bodyPr>
          <a:lstStyle xmlns:a="http://schemas.openxmlformats.org/drawingml/2006/main">
            <a:defPPr algn="ctr">
              <a:defRPr sz="1620" b="1">
                <a:solidFill>
                  <a:srgbClr val="F5F7F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620" b="1">
                <a:solidFill>
                  <a:srgbClr val="F5F7FB"/>
                </a:solidFill>
                <a:latin typeface="Arial"/>
                <a:ea typeface="Arial"/>
                <a:cs typeface="Arial"/>
              </a:defRPr>
            </a:pPr>
            <a:r>
              <a:rPr sz="1620" b="1">
                <a:solidFill>
                  <a:srgbClr val="F5F7FB"/>
                </a:solidFill>
                <a:latin typeface="Arial"/>
                <a:ea typeface="Arial"/>
                <a:cs typeface="Arial"/>
              </a:rPr>
              <a:t>Cisco 7945G</a:t>
            </a:r>
          </a:p>
          <a:p xmlns:a="http://schemas.openxmlformats.org/drawingml/2006/main">
            <a:pPr algn="ctr">
              <a:defRPr sz="1620" b="1">
                <a:solidFill>
                  <a:srgbClr val="F5F7FB"/>
                </a:solidFill>
                <a:latin typeface="Arial"/>
                <a:ea typeface="Arial"/>
                <a:cs typeface="Arial"/>
              </a:defRPr>
            </a:pPr>
            <a:r>
              <a:rPr sz="1620" b="1">
                <a:solidFill>
                  <a:srgbClr val="F5F7FB"/>
                </a:solidFill>
                <a:latin typeface="Arial"/>
                <a:ea typeface="Arial"/>
                <a:cs typeface="Arial"/>
              </a:rPr>
              <a:t>порт SW / Network</a:t>
            </a:r>
          </a:p>
        </p:txBody>
      </p:sp>
      <p:sp>
        <p:nvSpPr>
          <p:cNvPr id="9" name="данные + питание">
            <a:extLst xmlns:a="http://schemas.openxmlformats.org/drawingml/2006/main">
              <a:ext uri="{FF2B5EF4-FFF2-40B4-BE49-F238E27FC236}">
                <a16:creationId xmlns:a16="http://schemas.microsoft.com/office/drawing/2014/main" id="{635870F3-C204-4391-8497-68864E339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2100263"/>
            <a:ext cx="2057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350" b="0">
                <a:solidFill>
                  <a:srgbClr val="48DDC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350" b="0">
                <a:solidFill>
                  <a:srgbClr val="48DDC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48DDCC"/>
                </a:solidFill>
                <a:latin typeface="Arial"/>
                <a:ea typeface="Arial"/>
                <a:cs typeface="Arial"/>
              </a:rPr>
              <a:t>данные + питание</a:t>
            </a:r>
          </a:p>
        </p:txBody>
      </p:sp>
      <p:sp>
        <p:nvSpPr>
          <p:cNvPr id="11" name="данные">
            <a:extLst xmlns:a="http://schemas.openxmlformats.org/drawingml/2006/main">
              <a:ext uri="{FF2B5EF4-FFF2-40B4-BE49-F238E27FC236}">
                <a16:creationId xmlns:a16="http://schemas.microsoft.com/office/drawing/2014/main" id="{B1536DD6-3A55-44F7-8B27-597A75778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264819"/>
            <a:ext cx="2057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350" b="0">
                <a:solidFill>
                  <a:srgbClr val="F7CB6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350" b="0">
                <a:solidFill>
                  <a:srgbClr val="F7CB64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7CB64"/>
                </a:solidFill>
                <a:latin typeface="Arial"/>
                <a:ea typeface="Arial"/>
                <a:cs typeface="Arial"/>
              </a:rPr>
              <a:t>данные</a:t>
            </a:r>
          </a:p>
        </p:txBody>
      </p:sp>
      <p:sp>
        <p:nvSpPr>
          <p:cNvPr id="13" name="PoE">
            <a:extLst xmlns:a="http://schemas.openxmlformats.org/drawingml/2006/main">
              <a:ext uri="{FF2B5EF4-FFF2-40B4-BE49-F238E27FC236}">
                <a16:creationId xmlns:a16="http://schemas.microsoft.com/office/drawing/2014/main" id="{536B052F-BEBB-409F-87B7-3751B94BE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264819"/>
            <a:ext cx="2057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350" b="0">
                <a:solidFill>
                  <a:srgbClr val="48DDC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350" b="0">
                <a:solidFill>
                  <a:srgbClr val="48DDC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48DDCC"/>
                </a:solidFill>
                <a:latin typeface="Arial"/>
                <a:ea typeface="Arial"/>
                <a:cs typeface="Arial"/>
              </a:rPr>
              <a:t>PoE</a:t>
            </a:r>
          </a:p>
        </p:txBody>
      </p:sp>
      <p:sp>
        <p:nvSpPr>
          <p:cNvPr id="14" name="Пассивный 24 V инжектор не подходит. UPS питает также PoE-коммута">
            <a:extLst xmlns:a="http://schemas.openxmlformats.org/drawingml/2006/main">
              <a:ext uri="{FF2B5EF4-FFF2-40B4-BE49-F238E27FC236}">
                <a16:creationId xmlns:a16="http://schemas.microsoft.com/office/drawing/2014/main" id="{15970A64-286A-4FBE-8FD9-22EAFBC5D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53125"/>
            <a:ext cx="10191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AAB9D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AAB9D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AAB9D0"/>
                </a:solidFill>
                <a:latin typeface="Arial"/>
                <a:ea typeface="Arial"/>
                <a:cs typeface="Arial"/>
              </a:rPr>
              <a:t>Пассивный 24 V инжектор не подходит. UPS питает также PoE-коммутатор, маршрутизатор и k3s-узел.</a:t>
            </a:r>
          </a:p>
        </p:txBody>
      </p:sp>
    </p:spTree>
    <p:extLst>
      <p:ext uri="{BB962C8B-B14F-4D97-AF65-F5344CB8AC3E}">
        <p14:creationId xmlns:p14="http://schemas.microsoft.com/office/powerpoint/2010/main" val="84804608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101C3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638784D-358B-4D22-B917-E5D50A76A553}"/>
              </a:ext>
            </a:extLst>
          </p:cNvPr>
          <p:cNvCxnSpPr>
            <a:stCxn xmlns:a="http://schemas.openxmlformats.org/drawingml/2006/main" id="7" idx="1"/>
            <a:endCxn xmlns:a="http://schemas.openxmlformats.org/drawingml/2006/main" id="8" idx="3"/>
          </p:cNvCxnSpPr>
          <p:nvPr/>
        </p:nvCxnSpPr>
        <p:spPr>
          <a:xfrm xmlns:a="http://schemas.openxmlformats.org/drawingml/2006/main" flipH="1">
            <a:off x="3481388" y="4533900"/>
            <a:ext cx="1243012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F7CB64"/>
            </a:solidFill>
            <a:tailEnd type="triangle" w="sm" len="sm"/>
          </a:ln>
        </p:spPr>
      </p:cxnSp>
      <p:cxnSp>
        <p:nvCxn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5859D48-C111-49FE-BF9E-19324CF3E8CB}"/>
              </a:ext>
            </a:extLst>
          </p:cNvPr>
          <p:cNvCxnSpPr>
            <a:stCxn xmlns:a="http://schemas.openxmlformats.org/drawingml/2006/main" id="6" idx="1"/>
            <a:endCxn xmlns:a="http://schemas.openxmlformats.org/drawingml/2006/main" id="7" idx="3"/>
          </p:cNvCxnSpPr>
          <p:nvPr/>
        </p:nvCxnSpPr>
        <p:spPr>
          <a:xfrm xmlns:a="http://schemas.openxmlformats.org/drawingml/2006/main" flipH="1">
            <a:off x="7210425" y="4533900"/>
            <a:ext cx="1243013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48DDCC"/>
            </a:solidFill>
            <a:tailEnd type="triangle" w="sm" len="sm"/>
          </a:ln>
        </p:spPr>
      </p:cxnSp>
      <p:cxnSp>
        <p:nvCxn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97AC1CB-D780-4644-8947-61E48BCCEA8F}"/>
              </a:ext>
            </a:extLst>
          </p:cNvPr>
          <p:cNvCxnSpPr>
            <a:stCxn xmlns:a="http://schemas.openxmlformats.org/drawingml/2006/main" id="5" idx="2"/>
            <a:endCxn xmlns:a="http://schemas.openxmlformats.org/drawingml/2006/main" id="6" idx="0"/>
          </p:cNvCxnSpPr>
          <p:nvPr/>
        </p:nvCxnSpPr>
        <p:spPr>
          <a:xfrm xmlns:a="http://schemas.openxmlformats.org/drawingml/2006/main">
            <a:off x="9696451" y="3033713"/>
            <a:ext cx="0" cy="985837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48DDCC"/>
            </a:solidFill>
            <a:tailEnd type="triangle" w="sm" len="sm"/>
          </a:ln>
        </p:spPr>
      </p:cxnSp>
      <p:cxnSp>
        <p:nvCxn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9120B9C-AD44-4EF8-B005-E1ACD70FD1CF}"/>
              </a:ext>
            </a:extLst>
          </p:cNvPr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7210425" y="2519363"/>
            <a:ext cx="1243013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48DDCC"/>
            </a:solidFill>
            <a:tailEnd type="triangle" w="sm" len="sm"/>
          </a:ln>
        </p:spPr>
      </p:cxnSp>
      <p:cxnSp>
        <p:nvCxn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BD29729-5C87-4855-8EA5-57D39EA3CA32}"/>
              </a:ext>
            </a:extLst>
          </p:cNvPr>
          <p:cNvCxnSpPr>
            <a:stCxn xmlns:a="http://schemas.openxmlformats.org/drawingml/2006/main" id="3" idx="3"/>
            <a:endCxn xmlns:a="http://schemas.openxmlformats.org/drawingml/2006/main" id="4" idx="1"/>
          </p:cNvCxnSpPr>
          <p:nvPr/>
        </p:nvCxnSpPr>
        <p:spPr>
          <a:xfrm xmlns:a="http://schemas.openxmlformats.org/drawingml/2006/main">
            <a:off x="3481388" y="2519363"/>
            <a:ext cx="1243012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48DDCC"/>
            </a:solidFill>
            <a:tailEnd type="triangle" w="sm" len="sm"/>
          </a:ln>
        </p:spPr>
      </p:cxnSp>
      <p:sp>
        <p:nvSpPr>
          <p:cNvPr id="15" name="Один телефон до всей партии">
            <a:extLst xmlns:a="http://schemas.openxmlformats.org/drawingml/2006/main">
              <a:ext uri="{FF2B5EF4-FFF2-40B4-BE49-F238E27FC236}">
                <a16:creationId xmlns:a16="http://schemas.microsoft.com/office/drawing/2014/main" id="{B0380793-8402-461E-A45E-55F68836B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19100"/>
            <a:ext cx="1095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75" b="1">
                <a:solidFill>
                  <a:srgbClr val="F5F7F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3375" b="1">
                <a:solidFill>
                  <a:srgbClr val="F5F7FB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F5F7FB"/>
                </a:solidFill>
                <a:latin typeface="Arial"/>
                <a:ea typeface="Arial"/>
                <a:cs typeface="Arial"/>
              </a:rPr>
              <a:t>Один телефон до всей партии</a:t>
            </a:r>
          </a:p>
        </p:txBody>
      </p:sp>
      <p:sp>
        <p:nvSpPr>
          <p:cNvPr id="2" name="06">
            <a:extLst xmlns:a="http://schemas.openxmlformats.org/drawingml/2006/main">
              <a:ext uri="{FF2B5EF4-FFF2-40B4-BE49-F238E27FC236}">
                <a16:creationId xmlns:a16="http://schemas.microsoft.com/office/drawing/2014/main" id="{064D8A90-2EBC-4FCC-9AB8-739562622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AAB9D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AAB9D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AAB9D0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3" name="inventory">
            <a:extLst xmlns:a="http://schemas.openxmlformats.org/drawingml/2006/main">
              <a:ext uri="{FF2B5EF4-FFF2-40B4-BE49-F238E27FC236}">
                <a16:creationId xmlns:a16="http://schemas.microsoft.com/office/drawing/2014/main" id="{62117F00-1D69-46ED-BC8D-F9CAFC752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63" y="2005013"/>
            <a:ext cx="2486025" cy="1028700"/>
          </a:xfrm>
          <a:prstGeom xmlns:a="http://schemas.openxmlformats.org/drawingml/2006/main" prst="roundRect">
            <a:avLst>
              <a:gd name="adj" fmla="val 9259"/>
            </a:avLst>
          </a:prstGeom>
          <a:solidFill xmlns:a="http://schemas.openxmlformats.org/drawingml/2006/main">
            <a:srgbClr val="172841"/>
          </a:solidFill>
          <a:ln xmlns:a="http://schemas.openxmlformats.org/drawingml/2006/main" w="19050">
            <a:solidFill>
              <a:srgbClr val="F7CB64"/>
            </a:solidFill>
          </a:ln>
        </p:spPr>
        <p:txBody>
          <a:bodyPr xmlns:a="http://schemas.openxmlformats.org/drawingml/2006/main" lIns="76200" tIns="76200" rIns="76200" bIns="76200" anchor="ctr">
            <a:noAutofit/>
          </a:bodyPr>
          <a:lstStyle xmlns:a="http://schemas.openxmlformats.org/drawingml/2006/main">
            <a:defPPr algn="ctr">
              <a:defRPr sz="1620" b="1">
                <a:solidFill>
                  <a:srgbClr val="F5F7F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620" b="1">
                <a:solidFill>
                  <a:srgbClr val="F5F7FB"/>
                </a:solidFill>
                <a:latin typeface="Arial"/>
                <a:ea typeface="Arial"/>
                <a:cs typeface="Arial"/>
              </a:defRPr>
            </a:pPr>
            <a:r>
              <a:rPr sz="1620" b="1">
                <a:solidFill>
                  <a:srgbClr val="F5F7FB"/>
                </a:solidFill>
                <a:latin typeface="Arial"/>
                <a:ea typeface="Arial"/>
                <a:cs typeface="Arial"/>
              </a:rPr>
              <a:t>Инвентарь</a:t>
            </a:r>
          </a:p>
          <a:p xmlns:a="http://schemas.openxmlformats.org/drawingml/2006/main">
            <a:pPr algn="ctr">
              <a:defRPr sz="1620" b="1">
                <a:solidFill>
                  <a:srgbClr val="F5F7FB"/>
                </a:solidFill>
                <a:latin typeface="Arial"/>
                <a:ea typeface="Arial"/>
                <a:cs typeface="Arial"/>
              </a:defRPr>
            </a:pPr>
            <a:r>
              <a:rPr sz="1620" b="1">
                <a:solidFill>
                  <a:srgbClr val="F5F7FB"/>
                </a:solidFill>
                <a:latin typeface="Arial"/>
                <a:ea typeface="Arial"/>
                <a:cs typeface="Arial"/>
              </a:rPr>
              <a:t>PID / HW / Load</a:t>
            </a:r>
          </a:p>
        </p:txBody>
      </p:sp>
      <p:sp>
        <p:nvSpPr>
          <p:cNvPr id="4" name="firmware">
            <a:extLst xmlns:a="http://schemas.openxmlformats.org/drawingml/2006/main">
              <a:ext uri="{FF2B5EF4-FFF2-40B4-BE49-F238E27FC236}">
                <a16:creationId xmlns:a16="http://schemas.microsoft.com/office/drawing/2014/main" id="{3B8E1371-3147-4D53-A265-1C7697D7C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005013"/>
            <a:ext cx="2486025" cy="1028700"/>
          </a:xfrm>
          <a:prstGeom xmlns:a="http://schemas.openxmlformats.org/drawingml/2006/main" prst="roundRect">
            <a:avLst>
              <a:gd name="adj" fmla="val 9259"/>
            </a:avLst>
          </a:prstGeom>
          <a:solidFill xmlns:a="http://schemas.openxmlformats.org/drawingml/2006/main">
            <a:srgbClr val="172841"/>
          </a:solidFill>
          <a:ln xmlns:a="http://schemas.openxmlformats.org/drawingml/2006/main" w="19050">
            <a:solidFill>
              <a:srgbClr val="FF836D"/>
            </a:solidFill>
          </a:ln>
        </p:spPr>
        <p:txBody>
          <a:bodyPr xmlns:a="http://schemas.openxmlformats.org/drawingml/2006/main" lIns="76200" tIns="76200" rIns="76200" bIns="76200" anchor="ctr">
            <a:noAutofit/>
          </a:bodyPr>
          <a:lstStyle xmlns:a="http://schemas.openxmlformats.org/drawingml/2006/main">
            <a:defPPr algn="ctr">
              <a:defRPr sz="1620" b="1">
                <a:solidFill>
                  <a:srgbClr val="F5F7F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620" b="1">
                <a:solidFill>
                  <a:srgbClr val="F5F7FB"/>
                </a:solidFill>
                <a:latin typeface="Arial"/>
                <a:ea typeface="Arial"/>
                <a:cs typeface="Arial"/>
              </a:defRPr>
            </a:pPr>
            <a:r>
              <a:rPr sz="1620" b="1">
                <a:solidFill>
                  <a:srgbClr val="F5F7FB"/>
                </a:solidFill>
                <a:latin typeface="Arial"/>
                <a:ea typeface="Arial"/>
                <a:cs typeface="Arial"/>
              </a:rPr>
              <a:t>Цепочка версий</a:t>
            </a:r>
          </a:p>
          <a:p xmlns:a="http://schemas.openxmlformats.org/drawingml/2006/main">
            <a:pPr algn="ctr">
              <a:defRPr sz="1620" b="1">
                <a:solidFill>
                  <a:srgbClr val="F5F7FB"/>
                </a:solidFill>
                <a:latin typeface="Arial"/>
                <a:ea typeface="Arial"/>
                <a:cs typeface="Arial"/>
              </a:defRPr>
            </a:pPr>
            <a:r>
              <a:rPr sz="1620" b="1">
                <a:solidFill>
                  <a:srgbClr val="F5F7FB"/>
                </a:solidFill>
                <a:latin typeface="Arial"/>
                <a:ea typeface="Arial"/>
                <a:cs typeface="Arial"/>
              </a:rPr>
              <a:t>SCCP → SIP</a:t>
            </a:r>
          </a:p>
        </p:txBody>
      </p:sp>
      <p:sp>
        <p:nvSpPr>
          <p:cNvPr id="5" name="tftp">
            <a:extLst xmlns:a="http://schemas.openxmlformats.org/drawingml/2006/main">
              <a:ext uri="{FF2B5EF4-FFF2-40B4-BE49-F238E27FC236}">
                <a16:creationId xmlns:a16="http://schemas.microsoft.com/office/drawing/2014/main" id="{15B95017-6E54-4890-B7FB-DA24FB270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3438" y="2005013"/>
            <a:ext cx="2486025" cy="1028700"/>
          </a:xfrm>
          <a:prstGeom xmlns:a="http://schemas.openxmlformats.org/drawingml/2006/main" prst="roundRect">
            <a:avLst>
              <a:gd name="adj" fmla="val 9259"/>
            </a:avLst>
          </a:prstGeom>
          <a:solidFill xmlns:a="http://schemas.openxmlformats.org/drawingml/2006/main">
            <a:srgbClr val="172841"/>
          </a:solidFill>
          <a:ln xmlns:a="http://schemas.openxmlformats.org/drawingml/2006/main" w="19050">
            <a:solidFill>
              <a:srgbClr val="48DDCC"/>
            </a:solidFill>
          </a:ln>
        </p:spPr>
        <p:txBody>
          <a:bodyPr xmlns:a="http://schemas.openxmlformats.org/drawingml/2006/main" lIns="76200" tIns="76200" rIns="76200" bIns="76200" anchor="ctr">
            <a:noAutofit/>
          </a:bodyPr>
          <a:lstStyle xmlns:a="http://schemas.openxmlformats.org/drawingml/2006/main">
            <a:defPPr algn="ctr">
              <a:defRPr sz="1620" b="1">
                <a:solidFill>
                  <a:srgbClr val="F5F7F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620" b="1">
                <a:solidFill>
                  <a:srgbClr val="F5F7FB"/>
                </a:solidFill>
                <a:latin typeface="Arial"/>
                <a:ea typeface="Arial"/>
                <a:cs typeface="Arial"/>
              </a:defRPr>
            </a:pPr>
            <a:r>
              <a:rPr sz="1620" b="1">
                <a:solidFill>
                  <a:srgbClr val="F5F7FB"/>
                </a:solidFill>
                <a:latin typeface="Arial"/>
                <a:ea typeface="Arial"/>
                <a:cs typeface="Arial"/>
              </a:rPr>
              <a:t>TFTP готов</a:t>
            </a:r>
          </a:p>
          <a:p xmlns:a="http://schemas.openxmlformats.org/drawingml/2006/main">
            <a:pPr algn="ctr">
              <a:defRPr sz="1620" b="1">
                <a:solidFill>
                  <a:srgbClr val="F5F7FB"/>
                </a:solidFill>
                <a:latin typeface="Arial"/>
                <a:ea typeface="Arial"/>
                <a:cs typeface="Arial"/>
              </a:defRPr>
            </a:pPr>
            <a:r>
              <a:rPr sz="1620" b="1">
                <a:solidFill>
                  <a:srgbClr val="F5F7FB"/>
                </a:solidFill>
                <a:latin typeface="Arial"/>
                <a:ea typeface="Arial"/>
                <a:cs typeface="Arial"/>
              </a:rPr>
              <a:t>пакет + SEP XML</a:t>
            </a:r>
          </a:p>
        </p:txBody>
      </p:sp>
      <p:sp>
        <p:nvSpPr>
          <p:cNvPr id="6" name="pilot">
            <a:extLst xmlns:a="http://schemas.openxmlformats.org/drawingml/2006/main">
              <a:ext uri="{FF2B5EF4-FFF2-40B4-BE49-F238E27FC236}">
                <a16:creationId xmlns:a16="http://schemas.microsoft.com/office/drawing/2014/main" id="{99D48039-2DB4-48E8-9C65-EFB3E6ABF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3438" y="4019550"/>
            <a:ext cx="2486025" cy="1028700"/>
          </a:xfrm>
          <a:prstGeom xmlns:a="http://schemas.openxmlformats.org/drawingml/2006/main" prst="roundRect">
            <a:avLst>
              <a:gd name="adj" fmla="val 9259"/>
            </a:avLst>
          </a:prstGeom>
          <a:solidFill xmlns:a="http://schemas.openxmlformats.org/drawingml/2006/main">
            <a:srgbClr val="172841"/>
          </a:solidFill>
          <a:ln xmlns:a="http://schemas.openxmlformats.org/drawingml/2006/main" w="19050">
            <a:solidFill>
              <a:srgbClr val="48DDCC"/>
            </a:solidFill>
          </a:ln>
        </p:spPr>
        <p:txBody>
          <a:bodyPr xmlns:a="http://schemas.openxmlformats.org/drawingml/2006/main" lIns="76200" tIns="76200" rIns="76200" bIns="76200" anchor="ctr">
            <a:noAutofit/>
          </a:bodyPr>
          <a:lstStyle xmlns:a="http://schemas.openxmlformats.org/drawingml/2006/main">
            <a:defPPr algn="ctr">
              <a:defRPr sz="1620" b="1">
                <a:solidFill>
                  <a:srgbClr val="F5F7F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620" b="1">
                <a:solidFill>
                  <a:srgbClr val="F5F7FB"/>
                </a:solidFill>
                <a:latin typeface="Arial"/>
                <a:ea typeface="Arial"/>
                <a:cs typeface="Arial"/>
              </a:defRPr>
            </a:pPr>
            <a:r>
              <a:rPr sz="1620" b="1">
                <a:solidFill>
                  <a:srgbClr val="F5F7FB"/>
                </a:solidFill>
                <a:latin typeface="Arial"/>
                <a:ea typeface="Arial"/>
                <a:cs typeface="Arial"/>
              </a:rPr>
              <a:t>Один телефон</a:t>
            </a:r>
          </a:p>
          <a:p xmlns:a="http://schemas.openxmlformats.org/drawingml/2006/main">
            <a:pPr algn="ctr">
              <a:defRPr sz="1620" b="1">
                <a:solidFill>
                  <a:srgbClr val="F5F7FB"/>
                </a:solidFill>
                <a:latin typeface="Arial"/>
                <a:ea typeface="Arial"/>
                <a:cs typeface="Arial"/>
              </a:defRPr>
            </a:pPr>
            <a:r>
              <a:rPr sz="1620" b="1">
                <a:solidFill>
                  <a:srgbClr val="F5F7FB"/>
                </a:solidFill>
                <a:latin typeface="Arial"/>
                <a:ea typeface="Arial"/>
                <a:cs typeface="Arial"/>
              </a:rPr>
              <a:t>стабильное питание</a:t>
            </a:r>
          </a:p>
        </p:txBody>
      </p:sp>
      <p:sp>
        <p:nvSpPr>
          <p:cNvPr id="7" name="accept">
            <a:extLst xmlns:a="http://schemas.openxmlformats.org/drawingml/2006/main">
              <a:ext uri="{FF2B5EF4-FFF2-40B4-BE49-F238E27FC236}">
                <a16:creationId xmlns:a16="http://schemas.microsoft.com/office/drawing/2014/main" id="{13DC4038-CDC9-4BEC-8DB9-A4E38CD44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4019550"/>
            <a:ext cx="2486025" cy="1028700"/>
          </a:xfrm>
          <a:prstGeom xmlns:a="http://schemas.openxmlformats.org/drawingml/2006/main" prst="roundRect">
            <a:avLst>
              <a:gd name="adj" fmla="val 9259"/>
            </a:avLst>
          </a:prstGeom>
          <a:solidFill xmlns:a="http://schemas.openxmlformats.org/drawingml/2006/main">
            <a:srgbClr val="172841"/>
          </a:solidFill>
          <a:ln xmlns:a="http://schemas.openxmlformats.org/drawingml/2006/main" w="19050">
            <a:solidFill>
              <a:srgbClr val="48DDCC"/>
            </a:solidFill>
          </a:ln>
        </p:spPr>
        <p:txBody>
          <a:bodyPr xmlns:a="http://schemas.openxmlformats.org/drawingml/2006/main" lIns="76200" tIns="76200" rIns="76200" bIns="76200" anchor="ctr">
            <a:noAutofit/>
          </a:bodyPr>
          <a:lstStyle xmlns:a="http://schemas.openxmlformats.org/drawingml/2006/main">
            <a:defPPr algn="ctr">
              <a:defRPr sz="1620" b="1">
                <a:solidFill>
                  <a:srgbClr val="F5F7F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620" b="1">
                <a:solidFill>
                  <a:srgbClr val="F5F7FB"/>
                </a:solidFill>
                <a:latin typeface="Arial"/>
                <a:ea typeface="Arial"/>
                <a:cs typeface="Arial"/>
              </a:defRPr>
            </a:pPr>
            <a:r>
              <a:rPr sz="1620" b="1">
                <a:solidFill>
                  <a:srgbClr val="F5F7FB"/>
                </a:solidFill>
                <a:latin typeface="Arial"/>
                <a:ea typeface="Arial"/>
                <a:cs typeface="Arial"/>
              </a:rPr>
              <a:t>Тесты звонков</a:t>
            </a:r>
          </a:p>
          <a:p xmlns:a="http://schemas.openxmlformats.org/drawingml/2006/main">
            <a:pPr algn="ctr">
              <a:defRPr sz="1620" b="1">
                <a:solidFill>
                  <a:srgbClr val="F5F7FB"/>
                </a:solidFill>
                <a:latin typeface="Arial"/>
                <a:ea typeface="Arial"/>
                <a:cs typeface="Arial"/>
              </a:defRPr>
            </a:pPr>
            <a:r>
              <a:rPr sz="1620" b="1">
                <a:solidFill>
                  <a:srgbClr val="F5F7FB"/>
                </a:solidFill>
                <a:latin typeface="Arial"/>
                <a:ea typeface="Arial"/>
                <a:cs typeface="Arial"/>
              </a:rPr>
              <a:t>звук / DTMF / reboot</a:t>
            </a:r>
          </a:p>
        </p:txBody>
      </p:sp>
      <p:sp>
        <p:nvSpPr>
          <p:cNvPr id="8" name="fleet">
            <a:extLst xmlns:a="http://schemas.openxmlformats.org/drawingml/2006/main">
              <a:ext uri="{FF2B5EF4-FFF2-40B4-BE49-F238E27FC236}">
                <a16:creationId xmlns:a16="http://schemas.microsoft.com/office/drawing/2014/main" id="{BA7D570D-99D5-4E8B-9DCD-B0163CA97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63" y="4019550"/>
            <a:ext cx="2486025" cy="1028700"/>
          </a:xfrm>
          <a:prstGeom xmlns:a="http://schemas.openxmlformats.org/drawingml/2006/main" prst="roundRect">
            <a:avLst>
              <a:gd name="adj" fmla="val 9259"/>
            </a:avLst>
          </a:prstGeom>
          <a:solidFill xmlns:a="http://schemas.openxmlformats.org/drawingml/2006/main">
            <a:srgbClr val="172841"/>
          </a:solidFill>
          <a:ln xmlns:a="http://schemas.openxmlformats.org/drawingml/2006/main" w="19050">
            <a:solidFill>
              <a:srgbClr val="F7CB64"/>
            </a:solidFill>
          </a:ln>
        </p:spPr>
        <p:txBody>
          <a:bodyPr xmlns:a="http://schemas.openxmlformats.org/drawingml/2006/main" lIns="76200" tIns="76200" rIns="76200" bIns="76200" anchor="ctr">
            <a:noAutofit/>
          </a:bodyPr>
          <a:lstStyle xmlns:a="http://schemas.openxmlformats.org/drawingml/2006/main">
            <a:defPPr algn="ctr">
              <a:defRPr sz="1620" b="1">
                <a:solidFill>
                  <a:srgbClr val="F5F7F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620" b="1">
                <a:solidFill>
                  <a:srgbClr val="F5F7FB"/>
                </a:solidFill>
                <a:latin typeface="Arial"/>
                <a:ea typeface="Arial"/>
                <a:cs typeface="Arial"/>
              </a:defRPr>
            </a:pPr>
            <a:r>
              <a:rPr sz="1620" b="1">
                <a:solidFill>
                  <a:srgbClr val="F5F7FB"/>
                </a:solidFill>
                <a:latin typeface="Arial"/>
                <a:ea typeface="Arial"/>
                <a:cs typeface="Arial"/>
              </a:rPr>
              <a:t>Вся партия</a:t>
            </a:r>
          </a:p>
          <a:p xmlns:a="http://schemas.openxmlformats.org/drawingml/2006/main">
            <a:pPr algn="ctr">
              <a:defRPr sz="1620" b="1">
                <a:solidFill>
                  <a:srgbClr val="F5F7FB"/>
                </a:solidFill>
                <a:latin typeface="Arial"/>
                <a:ea typeface="Arial"/>
                <a:cs typeface="Arial"/>
              </a:defRPr>
            </a:pPr>
            <a:r>
              <a:rPr sz="1620" b="1">
                <a:solidFill>
                  <a:srgbClr val="F5F7FB"/>
                </a:solidFill>
                <a:latin typeface="Arial"/>
                <a:ea typeface="Arial"/>
                <a:cs typeface="Arial"/>
              </a:rPr>
              <a:t>по одному</a:t>
            </a:r>
          </a:p>
        </p:txBody>
      </p:sp>
      <p:sp>
        <p:nvSpPr>
          <p:cNvPr id="14" name="HW 13.0+: минимум 9.3(1)SR3. Цепочка обновления зависит от текуще">
            <a:extLst xmlns:a="http://schemas.openxmlformats.org/drawingml/2006/main">
              <a:ext uri="{FF2B5EF4-FFF2-40B4-BE49-F238E27FC236}">
                <a16:creationId xmlns:a16="http://schemas.microsoft.com/office/drawing/2014/main" id="{BC7E349A-56FC-4DA0-86C9-946A31F1B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53125"/>
            <a:ext cx="10191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AAB9D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AAB9D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AAB9D0"/>
                </a:solidFill>
                <a:latin typeface="Arial"/>
                <a:ea typeface="Arial"/>
                <a:cs typeface="Arial"/>
              </a:rPr>
              <a:t>HW 13.0+: минимум 9.3(1)SR3. Цепочка обновления зависит от текущей версии.</a:t>
            </a:r>
          </a:p>
          <a:p xmlns:a="http://schemas.openxmlformats.org/drawingml/2006/main">
            <a:pPr algn="l">
              <a:defRPr sz="1425" b="0">
                <a:solidFill>
                  <a:srgbClr val="AAB9D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AAB9D0"/>
                </a:solidFill>
                <a:latin typeface="Arial"/>
                <a:ea typeface="Arial"/>
                <a:cs typeface="Arial"/>
              </a:rPr>
              <a:t>До сброса готовы TFTP и recovery-план. Питание при записи flash не прерывать.</a:t>
            </a:r>
          </a:p>
        </p:txBody>
      </p:sp>
    </p:spTree>
    <p:extLst>
      <p:ext uri="{BB962C8B-B14F-4D97-AF65-F5344CB8AC3E}">
        <p14:creationId xmlns:p14="http://schemas.microsoft.com/office/powerpoint/2010/main" val="130896125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101C3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FTP до первого перезапуска">
            <a:extLst xmlns:a="http://schemas.openxmlformats.org/drawingml/2006/main">
              <a:ext uri="{FF2B5EF4-FFF2-40B4-BE49-F238E27FC236}">
                <a16:creationId xmlns:a16="http://schemas.microsoft.com/office/drawing/2014/main" id="{7F5FB806-E44E-4E00-92E3-1D041538A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19100"/>
            <a:ext cx="1095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75" b="1">
                <a:solidFill>
                  <a:srgbClr val="F5F7F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3375" b="1">
                <a:solidFill>
                  <a:srgbClr val="F5F7FB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F5F7FB"/>
                </a:solidFill>
                <a:latin typeface="Arial"/>
                <a:ea typeface="Arial"/>
                <a:cs typeface="Arial"/>
              </a:rPr>
              <a:t>TFTP до первого перезапуска</a:t>
            </a:r>
          </a:p>
        </p:txBody>
      </p:sp>
      <p:sp>
        <p:nvSpPr>
          <p:cNvPr id="2" name="07">
            <a:extLst xmlns:a="http://schemas.openxmlformats.org/drawingml/2006/main">
              <a:ext uri="{FF2B5EF4-FFF2-40B4-BE49-F238E27FC236}">
                <a16:creationId xmlns:a16="http://schemas.microsoft.com/office/drawing/2014/main" id="{2036398D-4A87-4EFA-88E1-4063E5BB9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AAB9D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AAB9D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AAB9D0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3" name="Полный официальный пакет">
            <a:extLst xmlns:a="http://schemas.openxmlformats.org/drawingml/2006/main">
              <a:ext uri="{FF2B5EF4-FFF2-40B4-BE49-F238E27FC236}">
                <a16:creationId xmlns:a16="http://schemas.microsoft.com/office/drawing/2014/main" id="{852989BE-2070-4CC3-AF1A-4FF52490E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14500"/>
            <a:ext cx="10477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50" b="1">
                <a:solidFill>
                  <a:srgbClr val="48DDC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48DDCC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48DDCC"/>
                </a:solidFill>
                <a:latin typeface="Arial"/>
                <a:ea typeface="Arial"/>
                <a:cs typeface="Arial"/>
              </a:rPr>
              <a:t>Полный официальный пакет</a:t>
            </a:r>
          </a:p>
        </p:txBody>
      </p:sp>
      <p:sp>
        <p:nvSpPr>
          <p:cNvPr id="4" name=".loads и все связанные бинарные файлы&#10;с оригинальными именами и р">
            <a:extLst xmlns:a="http://schemas.openxmlformats.org/drawingml/2006/main">
              <a:ext uri="{FF2B5EF4-FFF2-40B4-BE49-F238E27FC236}">
                <a16:creationId xmlns:a16="http://schemas.microsoft.com/office/drawing/2014/main" id="{BC3C14C5-2A62-454F-9DD1-D8ED079C5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33625"/>
            <a:ext cx="104775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0">
                <a:solidFill>
                  <a:srgbClr val="F5F7F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250" b="0">
                <a:solidFill>
                  <a:srgbClr val="F5F7F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F5F7FB"/>
                </a:solidFill>
                <a:latin typeface="Arial"/>
                <a:ea typeface="Arial"/>
                <a:cs typeface="Arial"/>
              </a:rPr>
              <a:t>.loads и все связанные бинарные файлы</a:t>
            </a:r>
          </a:p>
          <a:p xmlns:a="http://schemas.openxmlformats.org/drawingml/2006/main">
            <a:pPr algn="l">
              <a:defRPr sz="2250" b="0">
                <a:solidFill>
                  <a:srgbClr val="F5F7F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F5F7FB"/>
                </a:solidFill>
                <a:latin typeface="Arial"/>
                <a:ea typeface="Arial"/>
                <a:cs typeface="Arial"/>
              </a:rPr>
              <a:t>с оригинальными именами и регистром</a:t>
            </a:r>
          </a:p>
        </p:txBody>
      </p:sp>
      <p:sp>
        <p:nvSpPr>
          <p:cNvPr id="5" name="SEP&lt;MAC&gt;.cnf.xml">
            <a:extLst xmlns:a="http://schemas.openxmlformats.org/drawingml/2006/main">
              <a:ext uri="{FF2B5EF4-FFF2-40B4-BE49-F238E27FC236}">
                <a16:creationId xmlns:a16="http://schemas.microsoft.com/office/drawing/2014/main" id="{E49C9038-D011-4715-B267-47FDFE122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10477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50" b="1">
                <a:solidFill>
                  <a:srgbClr val="FF836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FF836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F836D"/>
                </a:solidFill>
                <a:latin typeface="Arial"/>
                <a:ea typeface="Arial"/>
                <a:cs typeface="Arial"/>
              </a:rPr>
              <a:t>SEP&lt;MAC&gt;.cnf.xml</a:t>
            </a:r>
          </a:p>
        </p:txBody>
      </p:sp>
      <p:sp>
        <p:nvSpPr>
          <p:cNvPr id="6" name="SIP-сервер, внутренний номер и отдельный пароль&#10;Load ID только дл">
            <a:extLst xmlns:a="http://schemas.openxmlformats.org/drawingml/2006/main">
              <a:ext uri="{FF2B5EF4-FFF2-40B4-BE49-F238E27FC236}">
                <a16:creationId xmlns:a16="http://schemas.microsoft.com/office/drawing/2014/main" id="{81B535A1-C010-4421-87E8-940F5B5C2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24350"/>
            <a:ext cx="104775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F5F7F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175" b="0">
                <a:solidFill>
                  <a:srgbClr val="F5F7FB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F5F7FB"/>
                </a:solidFill>
                <a:latin typeface="Arial"/>
                <a:ea typeface="Arial"/>
                <a:cs typeface="Arial"/>
              </a:rPr>
              <a:t>SIP-сервер, внутренний номер и отдельный пароль</a:t>
            </a:r>
          </a:p>
          <a:p xmlns:a="http://schemas.openxmlformats.org/drawingml/2006/main">
            <a:pPr algn="l">
              <a:defRPr sz="2175" b="0">
                <a:solidFill>
                  <a:srgbClr val="F5F7FB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F5F7FB"/>
                </a:solidFill>
                <a:latin typeface="Arial"/>
                <a:ea typeface="Arial"/>
                <a:cs typeface="Arial"/>
              </a:rPr>
              <a:t>Load ID только для выбранной ветки 7945_7965</a:t>
            </a:r>
          </a:p>
        </p:txBody>
      </p:sp>
      <p:sp>
        <p:nvSpPr>
          <p:cNvPr id="7" name="DHCP option 150 на домашнем маршрутизаторе или Alternate TFTP на ">
            <a:extLst xmlns:a="http://schemas.openxmlformats.org/drawingml/2006/main">
              <a:ext uri="{FF2B5EF4-FFF2-40B4-BE49-F238E27FC236}">
                <a16:creationId xmlns:a16="http://schemas.microsoft.com/office/drawing/2014/main" id="{B4983E6E-8B9F-454D-A8F9-0788911C6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53125"/>
            <a:ext cx="10191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AAB9D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AAB9D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AAB9D0"/>
                </a:solidFill>
                <a:latin typeface="Arial"/>
                <a:ea typeface="Arial"/>
                <a:cs typeface="Arial"/>
              </a:rPr>
              <a:t>DHCP option 150 на домашнем маршрутизаторе или Alternate TFTP на телефоне.</a:t>
            </a:r>
          </a:p>
        </p:txBody>
      </p:sp>
    </p:spTree>
    <p:extLst>
      <p:ext uri="{BB962C8B-B14F-4D97-AF65-F5344CB8AC3E}">
        <p14:creationId xmlns:p14="http://schemas.microsoft.com/office/powerpoint/2010/main" val="85612150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101C3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Asterisk: свой номер для каждого телефона">
            <a:extLst xmlns:a="http://schemas.openxmlformats.org/drawingml/2006/main">
              <a:ext uri="{FF2B5EF4-FFF2-40B4-BE49-F238E27FC236}">
                <a16:creationId xmlns:a16="http://schemas.microsoft.com/office/drawing/2014/main" id="{B4F82D32-283E-4561-817B-6EC119FB0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19100"/>
            <a:ext cx="1095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75" b="1">
                <a:solidFill>
                  <a:srgbClr val="F5F7F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3375" b="1">
                <a:solidFill>
                  <a:srgbClr val="F5F7FB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F5F7FB"/>
                </a:solidFill>
                <a:latin typeface="Arial"/>
                <a:ea typeface="Arial"/>
                <a:cs typeface="Arial"/>
              </a:rPr>
              <a:t>Asterisk: свой номер для каждого телефона</a:t>
            </a:r>
          </a:p>
        </p:txBody>
      </p:sp>
      <p:sp>
        <p:nvSpPr>
          <p:cNvPr id="2" name="08">
            <a:extLst xmlns:a="http://schemas.openxmlformats.org/drawingml/2006/main">
              <a:ext uri="{FF2B5EF4-FFF2-40B4-BE49-F238E27FC236}">
                <a16:creationId xmlns:a16="http://schemas.microsoft.com/office/drawing/2014/main" id="{86F2159F-EA4E-42DC-9448-BC5541367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AAB9D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AAB9D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AAB9D0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3" name="201">
            <a:extLst xmlns:a="http://schemas.openxmlformats.org/drawingml/2006/main">
              <a:ext uri="{FF2B5EF4-FFF2-40B4-BE49-F238E27FC236}">
                <a16:creationId xmlns:a16="http://schemas.microsoft.com/office/drawing/2014/main" id="{1592D694-CD47-4A8C-B54C-973F8914C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57375"/>
            <a:ext cx="2952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5550" b="1">
                <a:solidFill>
                  <a:srgbClr val="48DDC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5550" b="1">
                <a:solidFill>
                  <a:srgbClr val="48DDCC"/>
                </a:solidFill>
                <a:latin typeface="Arial"/>
                <a:ea typeface="Arial"/>
                <a:cs typeface="Arial"/>
              </a:defRPr>
            </a:pPr>
            <a:r>
              <a:rPr sz="5550" b="1">
                <a:solidFill>
                  <a:srgbClr val="48DDCC"/>
                </a:solidFill>
                <a:latin typeface="Arial"/>
                <a:ea typeface="Arial"/>
                <a:cs typeface="Arial"/>
              </a:rPr>
              <a:t>201</a:t>
            </a:r>
          </a:p>
        </p:txBody>
      </p:sp>
      <p:sp>
        <p:nvSpPr>
          <p:cNvPr id="4" name="202">
            <a:extLst xmlns:a="http://schemas.openxmlformats.org/drawingml/2006/main">
              <a:ext uri="{FF2B5EF4-FFF2-40B4-BE49-F238E27FC236}">
                <a16:creationId xmlns:a16="http://schemas.microsoft.com/office/drawing/2014/main" id="{7A819C70-6EBA-4B2E-B2E4-4295711BA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857375"/>
            <a:ext cx="2952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5550" b="1">
                <a:solidFill>
                  <a:srgbClr val="FF836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5550" b="1">
                <a:solidFill>
                  <a:srgbClr val="FF836D"/>
                </a:solidFill>
                <a:latin typeface="Arial"/>
                <a:ea typeface="Arial"/>
                <a:cs typeface="Arial"/>
              </a:defRPr>
            </a:pPr>
            <a:r>
              <a:rPr sz="5550" b="1">
                <a:solidFill>
                  <a:srgbClr val="FF836D"/>
                </a:solidFill>
                <a:latin typeface="Arial"/>
                <a:ea typeface="Arial"/>
                <a:cs typeface="Arial"/>
              </a:rPr>
              <a:t>202</a:t>
            </a:r>
          </a:p>
        </p:txBody>
      </p:sp>
      <p:sp>
        <p:nvSpPr>
          <p:cNvPr id="5" name="…210">
            <a:extLst xmlns:a="http://schemas.openxmlformats.org/drawingml/2006/main">
              <a:ext uri="{FF2B5EF4-FFF2-40B4-BE49-F238E27FC236}">
                <a16:creationId xmlns:a16="http://schemas.microsoft.com/office/drawing/2014/main" id="{83BDAF07-2B89-4A7F-BEFA-84BD71517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857375"/>
            <a:ext cx="319087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5550" b="1">
                <a:solidFill>
                  <a:srgbClr val="F7CB6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5550" b="1">
                <a:solidFill>
                  <a:srgbClr val="F7CB64"/>
                </a:solidFill>
                <a:latin typeface="Arial"/>
                <a:ea typeface="Arial"/>
                <a:cs typeface="Arial"/>
              </a:defRPr>
            </a:pPr>
            <a:r>
              <a:rPr sz="5550" b="1">
                <a:solidFill>
                  <a:srgbClr val="F7CB64"/>
                </a:solidFill>
                <a:latin typeface="Arial"/>
                <a:ea typeface="Arial"/>
                <a:cs typeface="Arial"/>
              </a:rPr>
              <a:t>…210</a:t>
            </a:r>
          </a:p>
        </p:txBody>
      </p:sp>
      <p:sp>
        <p:nvSpPr>
          <p:cNvPr id="6" name="TCP, отдельные endpoint, auth и AOR&#10;Уникальный пароль на каждом а">
            <a:extLst xmlns:a="http://schemas.openxmlformats.org/drawingml/2006/main">
              <a:ext uri="{FF2B5EF4-FFF2-40B4-BE49-F238E27FC236}">
                <a16:creationId xmlns:a16="http://schemas.microsoft.com/office/drawing/2014/main" id="{4E19AB6F-AAE4-4ECC-9983-91AC0B454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381375"/>
            <a:ext cx="10477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325" b="0">
                <a:solidFill>
                  <a:srgbClr val="F5F7F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325" b="0">
                <a:solidFill>
                  <a:srgbClr val="F5F7FB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F5F7FB"/>
                </a:solidFill>
                <a:latin typeface="Arial"/>
                <a:ea typeface="Arial"/>
                <a:cs typeface="Arial"/>
              </a:rPr>
              <a:t>TCP, отдельные endpoint, auth и AOR</a:t>
            </a:r>
          </a:p>
          <a:p xmlns:a="http://schemas.openxmlformats.org/drawingml/2006/main">
            <a:pPr algn="l">
              <a:defRPr sz="2325" b="0">
                <a:solidFill>
                  <a:srgbClr val="F5F7FB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F5F7FB"/>
                </a:solidFill>
                <a:latin typeface="Arial"/>
                <a:ea typeface="Arial"/>
                <a:cs typeface="Arial"/>
              </a:rPr>
              <a:t>Уникальный пароль на каждом аппарате</a:t>
            </a:r>
          </a:p>
        </p:txBody>
      </p:sp>
      <p:sp>
        <p:nvSpPr>
          <p:cNvPr id="7" name="G.711 ulaw / alaw&#10;direct_media=no для RTP через Asterisk">
            <a:extLst xmlns:a="http://schemas.openxmlformats.org/drawingml/2006/main">
              <a:ext uri="{FF2B5EF4-FFF2-40B4-BE49-F238E27FC236}">
                <a16:creationId xmlns:a16="http://schemas.microsoft.com/office/drawing/2014/main" id="{E7BF6D36-3E57-49D3-AED5-229A2C64A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14875"/>
            <a:ext cx="10477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AAB9D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175" b="0">
                <a:solidFill>
                  <a:srgbClr val="AAB9D0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AAB9D0"/>
                </a:solidFill>
                <a:latin typeface="Arial"/>
                <a:ea typeface="Arial"/>
                <a:cs typeface="Arial"/>
              </a:rPr>
              <a:t>G.711 ulaw / alaw</a:t>
            </a:r>
          </a:p>
          <a:p xmlns:a="http://schemas.openxmlformats.org/drawingml/2006/main">
            <a:pPr algn="l">
              <a:defRPr sz="2175" b="0">
                <a:solidFill>
                  <a:srgbClr val="AAB9D0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AAB9D0"/>
                </a:solidFill>
                <a:latin typeface="Arial"/>
                <a:ea typeface="Arial"/>
                <a:cs typeface="Arial"/>
              </a:rPr>
              <a:t>direct_media=no для RTP через Asterisk</a:t>
            </a:r>
          </a:p>
        </p:txBody>
      </p:sp>
      <p:sp>
        <p:nvSpPr>
          <p:cNvPr id="8" name="Первый этап: внутренние звонки в доме. Внешний SIP trunk настраив">
            <a:extLst xmlns:a="http://schemas.openxmlformats.org/drawingml/2006/main">
              <a:ext uri="{FF2B5EF4-FFF2-40B4-BE49-F238E27FC236}">
                <a16:creationId xmlns:a16="http://schemas.microsoft.com/office/drawing/2014/main" id="{EE7574DF-E400-457E-BC4D-E34A4224E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53125"/>
            <a:ext cx="10191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AAB9D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AAB9D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AAB9D0"/>
                </a:solidFill>
                <a:latin typeface="Arial"/>
                <a:ea typeface="Arial"/>
                <a:cs typeface="Arial"/>
              </a:rPr>
              <a:t>Первый этап: внутренние звонки в доме. Внешний SIP trunk настраивается отдельно.</a:t>
            </a:r>
          </a:p>
        </p:txBody>
      </p:sp>
    </p:spTree>
    <p:extLst>
      <p:ext uri="{BB962C8B-B14F-4D97-AF65-F5344CB8AC3E}">
        <p14:creationId xmlns:p14="http://schemas.microsoft.com/office/powerpoint/2010/main" val="112736217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101C3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Развёртывание в домашнем k3s">
            <a:extLst xmlns:a="http://schemas.openxmlformats.org/drawingml/2006/main">
              <a:ext uri="{FF2B5EF4-FFF2-40B4-BE49-F238E27FC236}">
                <a16:creationId xmlns:a16="http://schemas.microsoft.com/office/drawing/2014/main" id="{B6F34DD0-B2BF-4FFB-A044-835CB92F0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19100"/>
            <a:ext cx="1095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75" b="1">
                <a:solidFill>
                  <a:srgbClr val="F5F7F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3375" b="1">
                <a:solidFill>
                  <a:srgbClr val="F5F7FB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F5F7FB"/>
                </a:solidFill>
                <a:latin typeface="Arial"/>
                <a:ea typeface="Arial"/>
                <a:cs typeface="Arial"/>
              </a:rPr>
              <a:t>Развёртывание в домашнем k3s</a:t>
            </a:r>
          </a:p>
        </p:txBody>
      </p:sp>
      <p:sp>
        <p:nvSpPr>
          <p:cNvPr id="2" name="09">
            <a:extLst xmlns:a="http://schemas.openxmlformats.org/drawingml/2006/main">
              <a:ext uri="{FF2B5EF4-FFF2-40B4-BE49-F238E27FC236}">
                <a16:creationId xmlns:a16="http://schemas.microsoft.com/office/drawing/2014/main" id="{5BBA7006-C07E-42D0-A26F-578A05343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AAB9D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AAB9D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AAB9D0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sp>
        <p:nvSpPr>
          <p:cNvPr id="3" name="01">
            <a:extLst xmlns:a="http://schemas.openxmlformats.org/drawingml/2006/main">
              <a:ext uri="{FF2B5EF4-FFF2-40B4-BE49-F238E27FC236}">
                <a16:creationId xmlns:a16="http://schemas.microsoft.com/office/drawing/2014/main" id="{684B1C67-F6C6-49FE-AB9F-113870936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71625"/>
            <a:ext cx="762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48DDC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3000" b="1">
                <a:solidFill>
                  <a:srgbClr val="48DDCC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48DDCC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4" name="LAN IP + k3s-узел">
            <a:extLst xmlns:a="http://schemas.openxmlformats.org/drawingml/2006/main">
              <a:ext uri="{FF2B5EF4-FFF2-40B4-BE49-F238E27FC236}">
                <a16:creationId xmlns:a16="http://schemas.microsoft.com/office/drawing/2014/main" id="{345C7B7A-A0B0-45C1-9070-EE9F00F74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1571625"/>
            <a:ext cx="952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F5F7F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400" b="1">
                <a:solidFill>
                  <a:srgbClr val="F5F7FB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5F7FB"/>
                </a:solidFill>
                <a:latin typeface="Arial"/>
                <a:ea typeface="Arial"/>
                <a:cs typeface="Arial"/>
              </a:rPr>
              <a:t>LAN IP + k3s-узел</a:t>
            </a:r>
          </a:p>
        </p:txBody>
      </p:sp>
      <p:sp>
        <p:nvSpPr>
          <p:cNvPr id="5" name="Фиксированный LAN-узел, проверка свободных портов">
            <a:extLst xmlns:a="http://schemas.openxmlformats.org/drawingml/2006/main">
              <a:ext uri="{FF2B5EF4-FFF2-40B4-BE49-F238E27FC236}">
                <a16:creationId xmlns:a16="http://schemas.microsoft.com/office/drawing/2014/main" id="{7C81D1A3-BE9A-4F95-B9A2-61B14E42D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038350"/>
            <a:ext cx="9525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AAB9D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AAB9D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AAB9D0"/>
                </a:solidFill>
                <a:latin typeface="Arial"/>
                <a:ea typeface="Arial"/>
                <a:cs typeface="Arial"/>
              </a:rPr>
              <a:t>Фиксированный LAN-узел, проверка свободных портов</a:t>
            </a:r>
          </a:p>
        </p:txBody>
      </p:sp>
      <p:sp>
        <p:nvSpPr>
          <p:cNvPr id="6" name="02">
            <a:extLst xmlns:a="http://schemas.openxmlformats.org/drawingml/2006/main">
              <a:ext uri="{FF2B5EF4-FFF2-40B4-BE49-F238E27FC236}">
                <a16:creationId xmlns:a16="http://schemas.microsoft.com/office/drawing/2014/main" id="{368C85D2-387B-4AD4-B9F4-BE3F1D168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28900"/>
            <a:ext cx="762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F836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3000" b="1">
                <a:solidFill>
                  <a:srgbClr val="FF836D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FF836D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7" name="Локальный render">
            <a:extLst xmlns:a="http://schemas.openxmlformats.org/drawingml/2006/main">
              <a:ext uri="{FF2B5EF4-FFF2-40B4-BE49-F238E27FC236}">
                <a16:creationId xmlns:a16="http://schemas.microsoft.com/office/drawing/2014/main" id="{A54BDE17-333F-464A-ADFD-13097FA3B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628900"/>
            <a:ext cx="952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F5F7F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400" b="1">
                <a:solidFill>
                  <a:srgbClr val="F5F7FB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5F7FB"/>
                </a:solidFill>
                <a:latin typeface="Arial"/>
                <a:ea typeface="Arial"/>
                <a:cs typeface="Arial"/>
              </a:rPr>
              <a:t>Локальный render</a:t>
            </a:r>
          </a:p>
        </p:txBody>
      </p:sp>
      <p:sp>
        <p:nvSpPr>
          <p:cNvPr id="8" name="Инвентарь, конфиги, секреты и image digest">
            <a:extLst xmlns:a="http://schemas.openxmlformats.org/drawingml/2006/main">
              <a:ext uri="{FF2B5EF4-FFF2-40B4-BE49-F238E27FC236}">
                <a16:creationId xmlns:a16="http://schemas.microsoft.com/office/drawing/2014/main" id="{43673023-D841-4F65-9B9D-36C16854A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095625"/>
            <a:ext cx="9525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AAB9D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AAB9D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AAB9D0"/>
                </a:solidFill>
                <a:latin typeface="Arial"/>
                <a:ea typeface="Arial"/>
                <a:cs typeface="Arial"/>
              </a:rPr>
              <a:t>Инвентарь, конфиги, секреты и image digest</a:t>
            </a:r>
          </a:p>
        </p:txBody>
      </p:sp>
      <p:sp>
        <p:nvSpPr>
          <p:cNvPr id="9" name="03">
            <a:extLst xmlns:a="http://schemas.openxmlformats.org/drawingml/2006/main">
              <a:ext uri="{FF2B5EF4-FFF2-40B4-BE49-F238E27FC236}">
                <a16:creationId xmlns:a16="http://schemas.microsoft.com/office/drawing/2014/main" id="{45916C30-7B2B-48E7-BDBA-A0EFE807A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86175"/>
            <a:ext cx="762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7CB6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3000" b="1">
                <a:solidFill>
                  <a:srgbClr val="F7CB64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F7CB64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0" name="Asterisk">
            <a:extLst xmlns:a="http://schemas.openxmlformats.org/drawingml/2006/main">
              <a:ext uri="{FF2B5EF4-FFF2-40B4-BE49-F238E27FC236}">
                <a16:creationId xmlns:a16="http://schemas.microsoft.com/office/drawing/2014/main" id="{F859FACA-AD3C-4B3F-A1A5-B75FE0E83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686175"/>
            <a:ext cx="952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F5F7F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400" b="1">
                <a:solidFill>
                  <a:srgbClr val="F5F7FB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5F7FB"/>
                </a:solidFill>
                <a:latin typeface="Arial"/>
                <a:ea typeface="Arial"/>
                <a:cs typeface="Arial"/>
              </a:rPr>
              <a:t>Asterisk</a:t>
            </a:r>
          </a:p>
        </p:txBody>
      </p:sp>
      <p:sp>
        <p:nvSpPr>
          <p:cNvPr id="11" name="Одна реплика, постоянные данные, health check">
            <a:extLst xmlns:a="http://schemas.openxmlformats.org/drawingml/2006/main">
              <a:ext uri="{FF2B5EF4-FFF2-40B4-BE49-F238E27FC236}">
                <a16:creationId xmlns:a16="http://schemas.microsoft.com/office/drawing/2014/main" id="{5AE925C0-EFEC-4993-95A2-29D0CF6E0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152900"/>
            <a:ext cx="9525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AAB9D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AAB9D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AAB9D0"/>
                </a:solidFill>
                <a:latin typeface="Arial"/>
                <a:ea typeface="Arial"/>
                <a:cs typeface="Arial"/>
              </a:rPr>
              <a:t>Одна реплика, постоянные данные, health check</a:t>
            </a:r>
          </a:p>
        </p:txBody>
      </p:sp>
      <p:sp>
        <p:nvSpPr>
          <p:cNvPr id="12" name="04">
            <a:extLst xmlns:a="http://schemas.openxmlformats.org/drawingml/2006/main">
              <a:ext uri="{FF2B5EF4-FFF2-40B4-BE49-F238E27FC236}">
                <a16:creationId xmlns:a16="http://schemas.microsoft.com/office/drawing/2014/main" id="{74A64671-7D86-4CA2-A3B1-542AC119A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43450"/>
            <a:ext cx="762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48DDC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3000" b="1">
                <a:solidFill>
                  <a:srgbClr val="48DDCC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48DDCC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3" name="TFTP + пилот">
            <a:extLst xmlns:a="http://schemas.openxmlformats.org/drawingml/2006/main">
              <a:ext uri="{FF2B5EF4-FFF2-40B4-BE49-F238E27FC236}">
                <a16:creationId xmlns:a16="http://schemas.microsoft.com/office/drawing/2014/main" id="{8DEAD21C-AC03-4441-A7CC-33B0D2CB5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743450"/>
            <a:ext cx="952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F5F7F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400" b="1">
                <a:solidFill>
                  <a:srgbClr val="F5F7FB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5F7FB"/>
                </a:solidFill>
                <a:latin typeface="Arial"/>
                <a:ea typeface="Arial"/>
                <a:cs typeface="Arial"/>
              </a:rPr>
              <a:t>TFTP + пилот</a:t>
            </a:r>
          </a:p>
        </p:txBody>
      </p:sp>
      <p:sp>
        <p:nvSpPr>
          <p:cNvPr id="14" name="Временный provisioning, затем тесты звонков">
            <a:extLst xmlns:a="http://schemas.openxmlformats.org/drawingml/2006/main">
              <a:ext uri="{FF2B5EF4-FFF2-40B4-BE49-F238E27FC236}">
                <a16:creationId xmlns:a16="http://schemas.microsoft.com/office/drawing/2014/main" id="{24C95DA1-A7E8-45A3-8800-A03675E16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210175"/>
            <a:ext cx="9525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AAB9D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AAB9D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AAB9D0"/>
                </a:solidFill>
                <a:latin typeface="Arial"/>
                <a:ea typeface="Arial"/>
                <a:cs typeface="Arial"/>
              </a:rPr>
              <a:t>Временный provisioning, затем тесты звонков</a:t>
            </a:r>
          </a:p>
        </p:txBody>
      </p:sp>
    </p:spTree>
    <p:extLst>
      <p:ext uri="{BB962C8B-B14F-4D97-AF65-F5344CB8AC3E}">
        <p14:creationId xmlns:p14="http://schemas.microsoft.com/office/powerpoint/2010/main" val="366735307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101C3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Критерии готовности пилота">
            <a:extLst xmlns:a="http://schemas.openxmlformats.org/drawingml/2006/main">
              <a:ext uri="{FF2B5EF4-FFF2-40B4-BE49-F238E27FC236}">
                <a16:creationId xmlns:a16="http://schemas.microsoft.com/office/drawing/2014/main" id="{CAD7212A-3196-46A4-AE23-115D77F92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19100"/>
            <a:ext cx="1095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75" b="1">
                <a:solidFill>
                  <a:srgbClr val="F5F7F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3375" b="1">
                <a:solidFill>
                  <a:srgbClr val="F5F7FB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F5F7FB"/>
                </a:solidFill>
                <a:latin typeface="Arial"/>
                <a:ea typeface="Arial"/>
                <a:cs typeface="Arial"/>
              </a:rPr>
              <a:t>Критерии готовности пилота</a:t>
            </a:r>
          </a:p>
        </p:txBody>
      </p:sp>
      <p:sp>
        <p:nvSpPr>
          <p:cNvPr id="2" name="10">
            <a:extLst xmlns:a="http://schemas.openxmlformats.org/drawingml/2006/main">
              <a:ext uri="{FF2B5EF4-FFF2-40B4-BE49-F238E27FC236}">
                <a16:creationId xmlns:a16="http://schemas.microsoft.com/office/drawing/2014/main" id="{22369810-3725-4DF6-9D09-A9B97E104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AAB9D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AAB9D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AAB9D0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3" name="Регистрация и два направления вызова">
            <a:extLst xmlns:a="http://schemas.openxmlformats.org/drawingml/2006/main">
              <a:ext uri="{FF2B5EF4-FFF2-40B4-BE49-F238E27FC236}">
                <a16:creationId xmlns:a16="http://schemas.microsoft.com/office/drawing/2014/main" id="{5AC6A9B6-3985-44E8-9FBA-8979A3952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14500"/>
            <a:ext cx="105727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50" b="1">
                <a:solidFill>
                  <a:srgbClr val="48DDC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48DDCC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48DDCC"/>
                </a:solidFill>
                <a:latin typeface="Arial"/>
                <a:ea typeface="Arial"/>
                <a:cs typeface="Arial"/>
              </a:rPr>
              <a:t>Регистрация и два направления вызова</a:t>
            </a:r>
          </a:p>
        </p:txBody>
      </p:sp>
      <p:sp>
        <p:nvSpPr>
          <p:cNvPr id="4" name="201 вызывает 202, затем 202 вызывает 201.&#10;В каждом вызове слышны ">
            <a:extLst xmlns:a="http://schemas.openxmlformats.org/drawingml/2006/main">
              <a:ext uri="{FF2B5EF4-FFF2-40B4-BE49-F238E27FC236}">
                <a16:creationId xmlns:a16="http://schemas.microsoft.com/office/drawing/2014/main" id="{8FF113FF-C621-4794-A809-25CF7CFFC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33625"/>
            <a:ext cx="10572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F5F7F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175" b="0">
                <a:solidFill>
                  <a:srgbClr val="F5F7FB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F5F7FB"/>
                </a:solidFill>
                <a:latin typeface="Arial"/>
                <a:ea typeface="Arial"/>
                <a:cs typeface="Arial"/>
              </a:rPr>
              <a:t>201 вызывает 202, затем 202 вызывает 201.</a:t>
            </a:r>
          </a:p>
          <a:p xmlns:a="http://schemas.openxmlformats.org/drawingml/2006/main">
            <a:pPr algn="l">
              <a:defRPr sz="2175" b="0">
                <a:solidFill>
                  <a:srgbClr val="F5F7FB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F5F7FB"/>
                </a:solidFill>
                <a:latin typeface="Arial"/>
                <a:ea typeface="Arial"/>
                <a:cs typeface="Arial"/>
              </a:rPr>
              <a:t>В каждом вызове слышны оба участника.</a:t>
            </a:r>
          </a:p>
        </p:txBody>
      </p:sp>
      <p:sp>
        <p:nvSpPr>
          <p:cNvPr id="5" name="Поведение после изменений">
            <a:extLst xmlns:a="http://schemas.openxmlformats.org/drawingml/2006/main">
              <a:ext uri="{FF2B5EF4-FFF2-40B4-BE49-F238E27FC236}">
                <a16:creationId xmlns:a16="http://schemas.microsoft.com/office/drawing/2014/main" id="{D65C2C7A-15CE-4580-A42A-76C21C892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10000"/>
            <a:ext cx="105727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50" b="1">
                <a:solidFill>
                  <a:srgbClr val="F7CB6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F7CB64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7CB64"/>
                </a:solidFill>
                <a:latin typeface="Arial"/>
                <a:ea typeface="Arial"/>
                <a:cs typeface="Arial"/>
              </a:rPr>
              <a:t>Поведение после изменений</a:t>
            </a:r>
          </a:p>
        </p:txBody>
      </p:sp>
      <p:sp>
        <p:nvSpPr>
          <p:cNvPr id="6" name="DTMF, удержание и перевод&#10;Перезапуск телефона и Asterisk, повторн">
            <a:extLst xmlns:a="http://schemas.openxmlformats.org/drawingml/2006/main">
              <a:ext uri="{FF2B5EF4-FFF2-40B4-BE49-F238E27FC236}">
                <a16:creationId xmlns:a16="http://schemas.microsoft.com/office/drawing/2014/main" id="{4F540A8D-B173-4E3F-8486-E9CE6CB11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429125"/>
            <a:ext cx="10572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F5F7F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175" b="0">
                <a:solidFill>
                  <a:srgbClr val="F5F7FB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F5F7FB"/>
                </a:solidFill>
                <a:latin typeface="Arial"/>
                <a:ea typeface="Arial"/>
                <a:cs typeface="Arial"/>
              </a:rPr>
              <a:t>DTMF, удержание и перевод</a:t>
            </a:r>
          </a:p>
          <a:p xmlns:a="http://schemas.openxmlformats.org/drawingml/2006/main">
            <a:pPr algn="l">
              <a:defRPr sz="2175" b="0">
                <a:solidFill>
                  <a:srgbClr val="F5F7FB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F5F7FB"/>
                </a:solidFill>
                <a:latin typeface="Arial"/>
                <a:ea typeface="Arial"/>
                <a:cs typeface="Arial"/>
              </a:rPr>
              <a:t>Перезапуск телефона и Asterisk, повторная регистрация</a:t>
            </a:r>
          </a:p>
        </p:txBody>
      </p:sp>
      <p:sp>
        <p:nvSpPr>
          <p:cNvPr id="7" name="Успешный deploy сам по себе не подтверждает, что голос проходит в">
            <a:extLst xmlns:a="http://schemas.openxmlformats.org/drawingml/2006/main">
              <a:ext uri="{FF2B5EF4-FFF2-40B4-BE49-F238E27FC236}">
                <a16:creationId xmlns:a16="http://schemas.microsoft.com/office/drawing/2014/main" id="{3E7D0ED3-E870-436A-AA55-9BAA93BC3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53125"/>
            <a:ext cx="10191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AAB9D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AAB9D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AAB9D0"/>
                </a:solidFill>
                <a:latin typeface="Arial"/>
                <a:ea typeface="Arial"/>
                <a:cs typeface="Arial"/>
              </a:rPr>
              <a:t>Успешный deploy сам по себе не подтверждает, что голос проходит в обе стороны.</a:t>
            </a:r>
          </a:p>
        </p:txBody>
      </p:sp>
    </p:spTree>
    <p:extLst>
      <p:ext uri="{BB962C8B-B14F-4D97-AF65-F5344CB8AC3E}">
        <p14:creationId xmlns:p14="http://schemas.microsoft.com/office/powerpoint/2010/main" val="1558234643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101C3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Эксплуатация и восстановление">
            <a:extLst xmlns:a="http://schemas.openxmlformats.org/drawingml/2006/main">
              <a:ext uri="{FF2B5EF4-FFF2-40B4-BE49-F238E27FC236}">
                <a16:creationId xmlns:a16="http://schemas.microsoft.com/office/drawing/2014/main" id="{FF2BB4C7-E915-4378-BE51-0A4590863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19100"/>
            <a:ext cx="1095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75" b="1">
                <a:solidFill>
                  <a:srgbClr val="F5F7F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3375" b="1">
                <a:solidFill>
                  <a:srgbClr val="F5F7FB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F5F7FB"/>
                </a:solidFill>
                <a:latin typeface="Arial"/>
                <a:ea typeface="Arial"/>
                <a:cs typeface="Arial"/>
              </a:rPr>
              <a:t>Эксплуатация и восстановление</a:t>
            </a:r>
          </a:p>
        </p:txBody>
      </p:sp>
      <p:sp>
        <p:nvSpPr>
          <p:cNvPr id="2" name="11">
            <a:extLst xmlns:a="http://schemas.openxmlformats.org/drawingml/2006/main">
              <a:ext uri="{FF2B5EF4-FFF2-40B4-BE49-F238E27FC236}">
                <a16:creationId xmlns:a16="http://schemas.microsoft.com/office/drawing/2014/main" id="{E52B1292-632F-41F2-9F5E-B0C33337C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AAB9D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AAB9D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AAB9D0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3" name="Резервная копия вне Git">
            <a:extLst xmlns:a="http://schemas.openxmlformats.org/drawingml/2006/main">
              <a:ext uri="{FF2B5EF4-FFF2-40B4-BE49-F238E27FC236}">
                <a16:creationId xmlns:a16="http://schemas.microsoft.com/office/drawing/2014/main" id="{595D49E1-D05A-4AAF-B049-B3D15F579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62125"/>
            <a:ext cx="105727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50" b="1">
                <a:solidFill>
                  <a:srgbClr val="48DDC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48DDCC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48DDCC"/>
                </a:solidFill>
                <a:latin typeface="Arial"/>
                <a:ea typeface="Arial"/>
                <a:cs typeface="Arial"/>
              </a:rPr>
              <a:t>Резервная копия вне Git</a:t>
            </a:r>
          </a:p>
        </p:txBody>
      </p:sp>
      <p:sp>
        <p:nvSpPr>
          <p:cNvPr id="4" name="Инвентарь, секреты, конфиги и данные Asterisk&#10;Версия образа и про">
            <a:extLst xmlns:a="http://schemas.openxmlformats.org/drawingml/2006/main">
              <a:ext uri="{FF2B5EF4-FFF2-40B4-BE49-F238E27FC236}">
                <a16:creationId xmlns:a16="http://schemas.microsoft.com/office/drawing/2014/main" id="{2EF4CA76-F435-4F38-9296-E77682B1E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81250"/>
            <a:ext cx="10572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F5F7F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175" b="0">
                <a:solidFill>
                  <a:srgbClr val="F5F7FB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F5F7FB"/>
                </a:solidFill>
                <a:latin typeface="Arial"/>
                <a:ea typeface="Arial"/>
                <a:cs typeface="Arial"/>
              </a:rPr>
              <a:t>Инвентарь, секреты, конфиги и данные Asterisk</a:t>
            </a:r>
          </a:p>
          <a:p xmlns:a="http://schemas.openxmlformats.org/drawingml/2006/main">
            <a:pPr algn="l">
              <a:defRPr sz="2175" b="0">
                <a:solidFill>
                  <a:srgbClr val="F5F7FB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F5F7FB"/>
                </a:solidFill>
                <a:latin typeface="Arial"/>
                <a:ea typeface="Arial"/>
                <a:cs typeface="Arial"/>
              </a:rPr>
              <a:t>Версия образа и происхождение firmware</a:t>
            </a:r>
          </a:p>
        </p:txBody>
      </p:sp>
      <p:sp>
        <p:nvSpPr>
          <p:cNvPr id="5" name="Один узел означает одну точку отказа">
            <a:extLst xmlns:a="http://schemas.openxmlformats.org/drawingml/2006/main">
              <a:ext uri="{FF2B5EF4-FFF2-40B4-BE49-F238E27FC236}">
                <a16:creationId xmlns:a16="http://schemas.microsoft.com/office/drawing/2014/main" id="{67142D06-A78D-49D8-9A3E-3651ACD17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05250"/>
            <a:ext cx="105727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50" b="1">
                <a:solidFill>
                  <a:srgbClr val="FF836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FF836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F836D"/>
                </a:solidFill>
                <a:latin typeface="Arial"/>
                <a:ea typeface="Arial"/>
                <a:cs typeface="Arial"/>
              </a:rPr>
              <a:t>Один узел означает одну точку отказа</a:t>
            </a:r>
          </a:p>
        </p:txBody>
      </p:sp>
      <p:sp>
        <p:nvSpPr>
          <p:cNvPr id="6" name="UPS для сетевого оборудования и k3s-узла&#10;План восстановления с те">
            <a:extLst xmlns:a="http://schemas.openxmlformats.org/drawingml/2006/main">
              <a:ext uri="{FF2B5EF4-FFF2-40B4-BE49-F238E27FC236}">
                <a16:creationId xmlns:a16="http://schemas.microsoft.com/office/drawing/2014/main" id="{5E64A018-3EA4-4C9F-888F-6B11131FD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24375"/>
            <a:ext cx="10572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F5F7F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175" b="0">
                <a:solidFill>
                  <a:srgbClr val="F5F7FB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F5F7FB"/>
                </a:solidFill>
                <a:latin typeface="Arial"/>
                <a:ea typeface="Arial"/>
                <a:cs typeface="Arial"/>
              </a:rPr>
              <a:t>UPS для сетевого оборудования и k3s-узла</a:t>
            </a:r>
          </a:p>
          <a:p xmlns:a="http://schemas.openxmlformats.org/drawingml/2006/main">
            <a:pPr algn="l">
              <a:defRPr sz="2175" b="0">
                <a:solidFill>
                  <a:srgbClr val="F5F7FB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F5F7FB"/>
                </a:solidFill>
                <a:latin typeface="Arial"/>
                <a:ea typeface="Arial"/>
                <a:cs typeface="Arial"/>
              </a:rPr>
              <a:t>План восстановления с тем же LAN IP</a:t>
            </a:r>
          </a:p>
        </p:txBody>
      </p:sp>
      <p:sp>
        <p:nvSpPr>
          <p:cNvPr id="7" name="Секреты и бинарные прошивки хранятся локально или в закрытом хран">
            <a:extLst xmlns:a="http://schemas.openxmlformats.org/drawingml/2006/main">
              <a:ext uri="{FF2B5EF4-FFF2-40B4-BE49-F238E27FC236}">
                <a16:creationId xmlns:a16="http://schemas.microsoft.com/office/drawing/2014/main" id="{29548C53-7695-49EC-871B-F80DD15C7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53125"/>
            <a:ext cx="10191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AAB9D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AAB9D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AAB9D0"/>
                </a:solidFill>
                <a:latin typeface="Arial"/>
                <a:ea typeface="Arial"/>
                <a:cs typeface="Arial"/>
              </a:rPr>
              <a:t>Секреты и бинарные прошивки хранятся локально или в закрытом хранилище.</a:t>
            </a:r>
          </a:p>
        </p:txBody>
      </p:sp>
    </p:spTree>
    <p:extLst>
      <p:ext uri="{BB962C8B-B14F-4D97-AF65-F5344CB8AC3E}">
        <p14:creationId xmlns:p14="http://schemas.microsoft.com/office/powerpoint/2010/main" val="1417778490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101C3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Запуск партии по шагам">
            <a:extLst xmlns:a="http://schemas.openxmlformats.org/drawingml/2006/main">
              <a:ext uri="{FF2B5EF4-FFF2-40B4-BE49-F238E27FC236}">
                <a16:creationId xmlns:a16="http://schemas.microsoft.com/office/drawing/2014/main" id="{051274AE-DF53-476D-9612-C1D0CADF2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19100"/>
            <a:ext cx="1095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75" b="1">
                <a:solidFill>
                  <a:srgbClr val="F5F7F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3375" b="1">
                <a:solidFill>
                  <a:srgbClr val="F5F7FB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F5F7FB"/>
                </a:solidFill>
                <a:latin typeface="Arial"/>
                <a:ea typeface="Arial"/>
                <a:cs typeface="Arial"/>
              </a:rPr>
              <a:t>Запуск партии по шагам</a:t>
            </a:r>
          </a:p>
        </p:txBody>
      </p:sp>
      <p:sp>
        <p:nvSpPr>
          <p:cNvPr id="2" name="12">
            <a:extLst xmlns:a="http://schemas.openxmlformats.org/drawingml/2006/main">
              <a:ext uri="{FF2B5EF4-FFF2-40B4-BE49-F238E27FC236}">
                <a16:creationId xmlns:a16="http://schemas.microsoft.com/office/drawing/2014/main" id="{69798D97-3965-4037-AB92-35EC62016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AAB9D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AAB9D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AAB9D0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3" name="1">
            <a:extLst xmlns:a="http://schemas.openxmlformats.org/drawingml/2006/main">
              <a:ext uri="{FF2B5EF4-FFF2-40B4-BE49-F238E27FC236}">
                <a16:creationId xmlns:a16="http://schemas.microsoft.com/office/drawing/2014/main" id="{485EF641-CAC0-419D-BD5A-FB6540FD8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62125"/>
            <a:ext cx="2190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7875" b="1">
                <a:solidFill>
                  <a:srgbClr val="48DDC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7875" b="1">
                <a:solidFill>
                  <a:srgbClr val="48DDCC"/>
                </a:solidFill>
                <a:latin typeface="Arial"/>
                <a:ea typeface="Arial"/>
                <a:cs typeface="Arial"/>
              </a:defRPr>
            </a:pPr>
            <a:r>
              <a:rPr sz="7875" b="1">
                <a:solidFill>
                  <a:srgbClr val="48DDCC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4" name="2">
            <a:extLst xmlns:a="http://schemas.openxmlformats.org/drawingml/2006/main">
              <a:ext uri="{FF2B5EF4-FFF2-40B4-BE49-F238E27FC236}">
                <a16:creationId xmlns:a16="http://schemas.microsoft.com/office/drawing/2014/main" id="{908849E4-D176-4212-9748-5B156A26D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762125"/>
            <a:ext cx="2190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7875" b="1">
                <a:solidFill>
                  <a:srgbClr val="FF836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7875" b="1">
                <a:solidFill>
                  <a:srgbClr val="FF836D"/>
                </a:solidFill>
                <a:latin typeface="Arial"/>
                <a:ea typeface="Arial"/>
                <a:cs typeface="Arial"/>
              </a:defRPr>
            </a:pPr>
            <a:r>
              <a:rPr sz="7875" b="1">
                <a:solidFill>
                  <a:srgbClr val="FF836D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5" name="10">
            <a:extLst xmlns:a="http://schemas.openxmlformats.org/drawingml/2006/main">
              <a:ext uri="{FF2B5EF4-FFF2-40B4-BE49-F238E27FC236}">
                <a16:creationId xmlns:a16="http://schemas.microsoft.com/office/drawing/2014/main" id="{D6B50249-F01B-4F83-8016-F10182542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762125"/>
            <a:ext cx="2762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7875" b="1">
                <a:solidFill>
                  <a:srgbClr val="F7CB6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7875" b="1">
                <a:solidFill>
                  <a:srgbClr val="F7CB64"/>
                </a:solidFill>
                <a:latin typeface="Arial"/>
                <a:ea typeface="Arial"/>
                <a:cs typeface="Arial"/>
              </a:defRPr>
            </a:pPr>
            <a:r>
              <a:rPr sz="7875" b="1">
                <a:solidFill>
                  <a:srgbClr val="F7CB64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6" name="Один аппарат">
            <a:extLst xmlns:a="http://schemas.openxmlformats.org/drawingml/2006/main">
              <a:ext uri="{FF2B5EF4-FFF2-40B4-BE49-F238E27FC236}">
                <a16:creationId xmlns:a16="http://schemas.microsoft.com/office/drawing/2014/main" id="{3B4CF139-CAA0-4211-B459-1A79272DA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24250"/>
            <a:ext cx="3048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F5F7F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F5F7FB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F5F7FB"/>
                </a:solidFill>
                <a:latin typeface="Arial"/>
                <a:ea typeface="Arial"/>
                <a:cs typeface="Arial"/>
              </a:rPr>
              <a:t>Один аппарат</a:t>
            </a:r>
          </a:p>
        </p:txBody>
      </p:sp>
      <p:sp>
        <p:nvSpPr>
          <p:cNvPr id="7" name="Два участника">
            <a:extLst xmlns:a="http://schemas.openxmlformats.org/drawingml/2006/main">
              <a:ext uri="{FF2B5EF4-FFF2-40B4-BE49-F238E27FC236}">
                <a16:creationId xmlns:a16="http://schemas.microsoft.com/office/drawing/2014/main" id="{969912E1-B8B0-4E93-9612-7FB24E6E1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524250"/>
            <a:ext cx="3238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F5F7F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F5F7FB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F5F7FB"/>
                </a:solidFill>
                <a:latin typeface="Arial"/>
                <a:ea typeface="Arial"/>
                <a:cs typeface="Arial"/>
              </a:rPr>
              <a:t>Два участника</a:t>
            </a:r>
          </a:p>
        </p:txBody>
      </p:sp>
      <p:sp>
        <p:nvSpPr>
          <p:cNvPr id="8" name="Вся партия">
            <a:extLst xmlns:a="http://schemas.openxmlformats.org/drawingml/2006/main">
              <a:ext uri="{FF2B5EF4-FFF2-40B4-BE49-F238E27FC236}">
                <a16:creationId xmlns:a16="http://schemas.microsoft.com/office/drawing/2014/main" id="{08263B00-0C8D-40B6-B17C-C8044A60E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524250"/>
            <a:ext cx="29527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F5F7F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F5F7FB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F5F7FB"/>
                </a:solidFill>
                <a:latin typeface="Arial"/>
                <a:ea typeface="Arial"/>
                <a:cs typeface="Arial"/>
              </a:rPr>
              <a:t>Вся партия</a:t>
            </a:r>
          </a:p>
        </p:txBody>
      </p:sp>
      <p:sp>
        <p:nvSpPr>
          <p:cNvPr id="9" name="Прошивка&#10;и регистрация">
            <a:extLst xmlns:a="http://schemas.openxmlformats.org/drawingml/2006/main">
              <a:ext uri="{FF2B5EF4-FFF2-40B4-BE49-F238E27FC236}">
                <a16:creationId xmlns:a16="http://schemas.microsoft.com/office/drawing/2014/main" id="{94082705-85F7-490B-ABE2-64ECAA459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10050"/>
            <a:ext cx="3143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AAB9D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100" b="0">
                <a:solidFill>
                  <a:srgbClr val="AAB9D0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AAB9D0"/>
                </a:solidFill>
                <a:latin typeface="Arial"/>
                <a:ea typeface="Arial"/>
                <a:cs typeface="Arial"/>
              </a:rPr>
              <a:t>Прошивка</a:t>
            </a:r>
          </a:p>
          <a:p xmlns:a="http://schemas.openxmlformats.org/drawingml/2006/main">
            <a:pPr algn="l">
              <a:defRPr sz="2100" b="0">
                <a:solidFill>
                  <a:srgbClr val="AAB9D0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AAB9D0"/>
                </a:solidFill>
                <a:latin typeface="Arial"/>
                <a:ea typeface="Arial"/>
                <a:cs typeface="Arial"/>
              </a:rPr>
              <a:t>и регистрация</a:t>
            </a:r>
          </a:p>
        </p:txBody>
      </p:sp>
      <p:sp>
        <p:nvSpPr>
          <p:cNvPr id="10" name="Двусторонний&#10;звонок и DTMF">
            <a:extLst xmlns:a="http://schemas.openxmlformats.org/drawingml/2006/main">
              <a:ext uri="{FF2B5EF4-FFF2-40B4-BE49-F238E27FC236}">
                <a16:creationId xmlns:a16="http://schemas.microsoft.com/office/drawing/2014/main" id="{68EA7ABA-2500-4489-9256-8CCA598F3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210050"/>
            <a:ext cx="3143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AAB9D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100" b="0">
                <a:solidFill>
                  <a:srgbClr val="AAB9D0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AAB9D0"/>
                </a:solidFill>
                <a:latin typeface="Arial"/>
                <a:ea typeface="Arial"/>
                <a:cs typeface="Arial"/>
              </a:rPr>
              <a:t>Двусторонний</a:t>
            </a:r>
          </a:p>
          <a:p xmlns:a="http://schemas.openxmlformats.org/drawingml/2006/main">
            <a:pPr algn="l">
              <a:defRPr sz="2100" b="0">
                <a:solidFill>
                  <a:srgbClr val="AAB9D0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AAB9D0"/>
                </a:solidFill>
                <a:latin typeface="Arial"/>
                <a:ea typeface="Arial"/>
                <a:cs typeface="Arial"/>
              </a:rPr>
              <a:t>звонок и DTMF</a:t>
            </a:r>
          </a:p>
        </p:txBody>
      </p:sp>
      <p:sp>
        <p:nvSpPr>
          <p:cNvPr id="11" name="Последовательное&#10;подключение">
            <a:extLst xmlns:a="http://schemas.openxmlformats.org/drawingml/2006/main">
              <a:ext uri="{FF2B5EF4-FFF2-40B4-BE49-F238E27FC236}">
                <a16:creationId xmlns:a16="http://schemas.microsoft.com/office/drawing/2014/main" id="{A6763F0F-115B-4B17-B19E-DB9220F91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210050"/>
            <a:ext cx="3143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AAB9D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100" b="0">
                <a:solidFill>
                  <a:srgbClr val="AAB9D0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AAB9D0"/>
                </a:solidFill>
                <a:latin typeface="Arial"/>
                <a:ea typeface="Arial"/>
                <a:cs typeface="Arial"/>
              </a:rPr>
              <a:t>Последовательное</a:t>
            </a:r>
          </a:p>
          <a:p xmlns:a="http://schemas.openxmlformats.org/drawingml/2006/main">
            <a:pPr algn="l">
              <a:defRPr sz="2100" b="0">
                <a:solidFill>
                  <a:srgbClr val="AAB9D0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AAB9D0"/>
                </a:solidFill>
                <a:latin typeface="Arial"/>
                <a:ea typeface="Arial"/>
                <a:cs typeface="Arial"/>
              </a:rPr>
              <a:t>подключение</a:t>
            </a:r>
          </a:p>
        </p:txBody>
      </p:sp>
      <p:sp>
        <p:nvSpPr>
          <p:cNvPr id="12" name="В репозитории: runbook, scripts, manifests, SVG и эта редактируем">
            <a:extLst xmlns:a="http://schemas.openxmlformats.org/drawingml/2006/main">
              <a:ext uri="{FF2B5EF4-FFF2-40B4-BE49-F238E27FC236}">
                <a16:creationId xmlns:a16="http://schemas.microsoft.com/office/drawing/2014/main" id="{6437EA08-1571-453B-AFF5-4AFD90F1C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53125"/>
            <a:ext cx="10191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AAB9D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AAB9D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AAB9D0"/>
                </a:solidFill>
                <a:latin typeface="Arial"/>
                <a:ea typeface="Arial"/>
                <a:cs typeface="Arial"/>
              </a:rPr>
              <a:t>В репозитории: runbook, scripts, manifests, SVG и эта редактируемая презентация.</a:t>
            </a:r>
          </a:p>
        </p:txBody>
      </p:sp>
    </p:spTree>
    <p:extLst>
      <p:ext uri="{BB962C8B-B14F-4D97-AF65-F5344CB8AC3E}">
        <p14:creationId xmlns:p14="http://schemas.microsoft.com/office/powerpoint/2010/main" val="156271914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2026-10-17T04:49:12.2600000Z</dcterms:created>
  <dcterms:modified xsi:type="dcterms:W3CDTF">2026-10-17T04:49:12.2600000Z</dcterms:modified>
</coreProperties>
</file>